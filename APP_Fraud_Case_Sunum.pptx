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2E2E"/>
                </a:solidFill>
                <a:latin typeface="Calibri"/>
              </a:defRPr>
            </a:pPr>
            <a:r>
              <a:rPr sz="1400" b="0" i="0" u="none" strike="noStrike">
                <a:solidFill>
                  <a:srgbClr val="2E2E2E"/>
                </a:solidFill>
                <a:latin typeface="Calibri"/>
              </a:rPr>
              <a:t>Sinyal puanları</a:t>
            </a:r>
          </a:p>
        </c:rich>
      </c:tx>
      <c:layout/>
      <c:overlay val="0"/>
    </c:title>
    <c:autoTitleDeleted val="0"/>
    <c:plotArea>
      <c:layout/>
      <c:barChart>
        <c:barDir val="bar"/>
        <c:grouping val="clustered"/>
        <c:varyColors val="0"/>
        <c:ser>
          <c:idx val="0"/>
          <c:order val="0"/>
          <c:tx>
            <c:strRef>
              <c:f>Sheet1!$B$1</c:f>
              <c:strCache>
                <c:ptCount val="1"/>
                <c:pt idx="0">
                  <c:v>Puan</c:v>
                </c:pt>
              </c:strCache>
            </c:strRef>
          </c:tx>
          <c:spPr>
            <a:solidFill>
              <a:srgbClr val="D81E3A"/>
            </a:solidFill>
            <a:effectLst/>
          </c:spPr>
          <c:invertIfNegative val="0"/>
          <c:dLbls>
            <c:numFmt formatCode="#,##0" sourceLinked="0"/>
            <c:txPr>
              <a:bodyPr/>
              <a:lstStyle/>
              <a:p>
                <a:pPr>
                  <a:defRPr b="0" i="0" strike="noStrike" sz="1200" u="none">
                    <a:solidFill>
                      <a:srgbClr val="2E2E2E"/>
                    </a:solidFill>
                    <a:latin typeface="Calibri"/>
                  </a:defRPr>
                </a:pPr>
              </a:p>
            </c:txPr>
            <c:showLegendKey val="0"/>
            <c:showVal val="1"/>
            <c:showCatName val="0"/>
            <c:showSerName val="0"/>
            <c:showPercent val="0"/>
            <c:showBubbleSize val="0"/>
            <c:showLeaderLines val="0"/>
          </c:dLbls>
          <c:cat>
            <c:multiLvlStrRef>
              <c:f>Sheet1!$A$2:$A$6</c:f>
              <c:multiLvlStrCache>
                <c:ptCount val="5"/>
                <c:lvl>
                  <c:pt idx="0">
                    <c:v>Yeni alıcı</c:v>
                  </c:pt>
                  <c:pt idx="1">
                    <c:v>Yüksek tutar (≥20 bin TL)</c:v>
                  </c:pt>
                  <c:pt idx="2">
                    <c:v>İşlem sırasında aktif çağrı</c:v>
                  </c:pt>
                  <c:pt idx="3">
                    <c:v>Uzaktan erişim uygulaması</c:v>
                  </c:pt>
                  <c:pt idx="4">
                    <c:v>Katır hesap sinyali</c:v>
                  </c:pt>
                </c:lvl>
              </c:multiLvlStrCache>
            </c:multiLvlStrRef>
          </c:cat>
          <c:val>
            <c:numRef>
              <c:f>Sheet1!$B$2:$B$6</c:f>
              <c:numCache>
                <c:formatCode>General</c:formatCode>
                <c:ptCount val="5"/>
                <c:pt idx="0">
                  <c:v>30</c:v>
                </c:pt>
                <c:pt idx="1">
                  <c:v>25</c:v>
                </c:pt>
                <c:pt idx="2">
                  <c:v>25</c:v>
                </c:pt>
                <c:pt idx="3">
                  <c:v>20</c:v>
                </c:pt>
                <c:pt idx="4">
                  <c:v>30</c:v>
                </c:pt>
              </c:numCache>
            </c:numRef>
          </c:val>
        </c:ser>
        <c:dLbls>
          <c:numFmt formatCode="#,##0" sourceLinked="0"/>
          <c:txPr>
            <a:bodyPr/>
            <a:lstStyle/>
            <a:p>
              <a:pPr>
                <a:defRPr b="0" i="0" strike="noStrike" sz="1200" u="none">
                  <a:solidFill>
                    <a:srgbClr val="2E2E2E"/>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E2E2E"/>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fraud vakası seçtik; nasıl engellenir ve yaşanırsa ne yapılır sorularını SRE perspektifiyle yanıtlıyoruz.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tanımı: haksız kazanç için aldatıcı yöntemler. Biz kurbanın parayı kendi eliyle gönderdiği APP vakasını seçtik.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Beş adımlık akış. Sistem açısından 3. adım normal bir havaleye benzer.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Katır hesap: dolandırıcılık parasının izini kaybettirmek için üzerinden geçirildiği ara hesap. Para katır hesapta durdurulabilirse kayıp geri alınabilir.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SRE ana gereksinimleri slaytındaki madde numaralarıyla eşleştirdik.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sinyale puan veriyoruz. Toplam 70 ve üzeri ise işlem otomatik bekletilir.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sentetik veride (30 bin işlem, yüzde 2 fraud) üç yaklaşımı yanlış alarm oranı yüzde 0,5'e sabitleyerek karşılaştırdık. Veri kurgusaldır, gerçek performans değildir. Amaç yaklaşımların farkını göstermek. Kod: demo/risk_models.py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PaySim: Kaggle'daki sentetik mobil para transferi veri seti. Sadece TRANSFER işlemleri, zamana göre bölündü: ilk yüzde 70 eğitim, son yüzde 30 test. Fraud'ların yüzde 96'sı bakiyenin tamamını gönderiyor, normal işlemlerde bu neredeyse hiç yok. Bu yüzden sonuçlar gerçek dünyadan iyimser. Bu sinyal olmadan modeller yüzde 27-28 yakalıyor. Kod: demo/paysim_models.py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demo/fraud_detection_demo.py. Sentetik veri: 310 işlem, 8 kurgusal APP fraud işlemi. Sayılar kurgusal verinin çıktısıdır.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Olay yönetimi akışı: tespit, etki analizi, acil aksiyon, kök neden, postmortem, iyileştirme.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Blameless postmortem örneği: kişiyi değil sistemi ve süreci sorguluyoruz.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sütunu kurgusal bir başlangıç durumudur, sonra sütunu demodaki davranıştır.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0A10"/>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APP Fraud Case Çalışması</a:t>
            </a:r>
            <a:endParaRPr lang="en-US" sz="4400" dirty="0"/>
          </a:p>
        </p:txBody>
      </p:sp>
      <p:sp>
        <p:nvSpPr>
          <p:cNvPr id="3" name="Text 1"/>
          <p:cNvSpPr txBox="1"/>
          <p:nvPr/>
        </p:nvSpPr>
        <p:spPr>
          <a:xfrm>
            <a:off x="548640" y="2377440"/>
            <a:ext cx="8046720" cy="822960"/>
          </a:xfrm>
          <a:prstGeom prst="rect">
            <a:avLst/>
          </a:prstGeom>
          <a:noFill/>
          <a:ln/>
        </p:spPr>
        <p:txBody>
          <a:bodyPr wrap="square" lIns="0" tIns="0" rIns="0" bIns="0" rtlCol="0" anchor="ctr"/>
          <a:lstStyle/>
          <a:p>
            <a:pPr indent="0" marL="0">
              <a:buNone/>
            </a:pPr>
            <a:r>
              <a:rPr lang="en-US" sz="2200" dirty="0">
                <a:solidFill>
                  <a:srgbClr val="F4B6BF"/>
                </a:solidFill>
                <a:latin typeface="Calibri" pitchFamily="34" charset="0"/>
                <a:ea typeface="Calibri" pitchFamily="34" charset="-122"/>
                <a:cs typeface="Calibri" pitchFamily="34" charset="-120"/>
              </a:rPr>
              <a:t>Sosyal mühendislikle para gönderme: önleme ve vaka sonrası müdahale</a:t>
            </a:r>
            <a:endParaRPr lang="en-US" sz="2200" dirty="0"/>
          </a:p>
        </p:txBody>
      </p:sp>
      <p:sp>
        <p:nvSpPr>
          <p:cNvPr id="4" name="Text 2"/>
          <p:cNvSpPr txBox="1"/>
          <p:nvPr/>
        </p:nvSpPr>
        <p:spPr>
          <a:xfrm>
            <a:off x="548640" y="4023360"/>
            <a:ext cx="8046720" cy="365760"/>
          </a:xfrm>
          <a:prstGeom prst="rect">
            <a:avLst/>
          </a:prstGeom>
          <a:noFill/>
          <a:ln/>
        </p:spPr>
        <p:txBody>
          <a:bodyPr wrap="square" lIns="0" tIns="0" rIns="0" bIns="0" rtlCol="0" anchor="ctr"/>
          <a:lstStyle/>
          <a:p>
            <a:pPr indent="0" marL="0">
              <a:buNone/>
            </a:pPr>
            <a:r>
              <a:rPr lang="en-US" sz="1600" dirty="0">
                <a:solidFill>
                  <a:srgbClr val="CFA3AA"/>
                </a:solidFill>
                <a:latin typeface="Calibri" pitchFamily="34" charset="0"/>
                <a:ea typeface="Calibri" pitchFamily="34" charset="-122"/>
                <a:cs typeface="Calibri" pitchFamily="34" charset="-120"/>
              </a:rPr>
              <a:t>SRE bakışıyla: tespit · müdahale · kök neden · önlem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Seçilen vaka: APP Fraud</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457200" y="1097280"/>
            <a:ext cx="3931920" cy="3383280"/>
          </a:xfrm>
          <a:prstGeom prst="roundRect">
            <a:avLst>
              <a:gd name="adj" fmla="val 3243"/>
            </a:avLst>
          </a:prstGeom>
          <a:solidFill>
            <a:srgbClr val="FDECEE"/>
          </a:solidFill>
          <a:ln w="12700">
            <a:solidFill>
              <a:srgbClr val="FDECEE"/>
            </a:solidFill>
            <a:prstDash val="solid"/>
          </a:ln>
        </p:spPr>
      </p:sp>
      <p:sp>
        <p:nvSpPr>
          <p:cNvPr id="7" name="Text 4"/>
          <p:cNvSpPr txBox="1"/>
          <p:nvPr/>
        </p:nvSpPr>
        <p:spPr>
          <a:xfrm>
            <a:off x="685800" y="1234440"/>
            <a:ext cx="3474720" cy="365760"/>
          </a:xfrm>
          <a:prstGeom prst="rect">
            <a:avLst/>
          </a:prstGeom>
          <a:noFill/>
          <a:ln/>
        </p:spPr>
        <p:txBody>
          <a:bodyPr wrap="square" lIns="0" tIns="0" rIns="0" bIns="0" rtlCol="0" anchor="ctr"/>
          <a:lstStyle/>
          <a:p>
            <a:pPr indent="0" marL="0">
              <a:buNone/>
            </a:pPr>
            <a:r>
              <a:rPr lang="en-US" sz="2000" b="1" dirty="0">
                <a:solidFill>
                  <a:srgbClr val="2E2E2E"/>
                </a:solidFill>
                <a:latin typeface="Calibri" pitchFamily="34" charset="0"/>
                <a:ea typeface="Calibri" pitchFamily="34" charset="-122"/>
                <a:cs typeface="Calibri" pitchFamily="34" charset="-120"/>
              </a:rPr>
              <a:t>Fraud nedir?</a:t>
            </a:r>
            <a:endParaRPr lang="en-US" sz="2000" dirty="0"/>
          </a:p>
        </p:txBody>
      </p:sp>
      <p:sp>
        <p:nvSpPr>
          <p:cNvPr id="8" name="Text 5"/>
          <p:cNvSpPr txBox="1"/>
          <p:nvPr/>
        </p:nvSpPr>
        <p:spPr>
          <a:xfrm>
            <a:off x="685800" y="1691640"/>
            <a:ext cx="3474720" cy="1371600"/>
          </a:xfrm>
          <a:prstGeom prst="rect">
            <a:avLst/>
          </a:prstGeom>
          <a:noFill/>
          <a:ln/>
        </p:spPr>
        <p:txBody>
          <a:bodyPr wrap="square" lIns="0" tIns="0" rIns="0" bIns="0" rtlCol="0" anchor="t"/>
          <a:lstStyle/>
          <a:p>
            <a:pPr indent="0" marL="0">
              <a:buNone/>
            </a:pPr>
            <a:r>
              <a:rPr lang="en-US" sz="1600" dirty="0">
                <a:solidFill>
                  <a:srgbClr val="2E2E2E"/>
                </a:solidFill>
                <a:latin typeface="Calibri" pitchFamily="34" charset="0"/>
                <a:ea typeface="Calibri" pitchFamily="34" charset="-122"/>
                <a:cs typeface="Calibri" pitchFamily="34" charset="-120"/>
              </a:rPr>
              <a:t>Haksız kazanç için bilerek yapılan aldatıcı veya sahte yöntemler. Çalıntı kart, hesap ele geçirme, sahte kimlik gibi türleri var.</a:t>
            </a:r>
            <a:endParaRPr lang="en-US" sz="1600" dirty="0"/>
          </a:p>
        </p:txBody>
      </p:sp>
      <p:sp>
        <p:nvSpPr>
          <p:cNvPr id="9" name="Text 6"/>
          <p:cNvSpPr txBox="1"/>
          <p:nvPr/>
        </p:nvSpPr>
        <p:spPr>
          <a:xfrm>
            <a:off x="685800" y="3108960"/>
            <a:ext cx="3474720" cy="365760"/>
          </a:xfrm>
          <a:prstGeom prst="rect">
            <a:avLst/>
          </a:prstGeom>
          <a:noFill/>
          <a:ln/>
        </p:spPr>
        <p:txBody>
          <a:bodyPr wrap="square" lIns="0" tIns="0" rIns="0" bIns="0" rtlCol="0" anchor="ctr"/>
          <a:lstStyle/>
          <a:p>
            <a:pPr indent="0" marL="0">
              <a:buNone/>
            </a:pPr>
            <a:r>
              <a:rPr lang="en-US" sz="2000" b="1" dirty="0">
                <a:solidFill>
                  <a:srgbClr val="2E2E2E"/>
                </a:solidFill>
                <a:latin typeface="Calibri" pitchFamily="34" charset="0"/>
                <a:ea typeface="Calibri" pitchFamily="34" charset="-122"/>
                <a:cs typeface="Calibri" pitchFamily="34" charset="-120"/>
              </a:rPr>
              <a:t>Biz hangisini seçtik?</a:t>
            </a:r>
            <a:endParaRPr lang="en-US" sz="2000" dirty="0"/>
          </a:p>
        </p:txBody>
      </p:sp>
      <p:sp>
        <p:nvSpPr>
          <p:cNvPr id="10" name="Text 7"/>
          <p:cNvSpPr txBox="1"/>
          <p:nvPr/>
        </p:nvSpPr>
        <p:spPr>
          <a:xfrm>
            <a:off x="685800" y="3520440"/>
            <a:ext cx="3474720" cy="822960"/>
          </a:xfrm>
          <a:prstGeom prst="rect">
            <a:avLst/>
          </a:prstGeom>
          <a:noFill/>
          <a:ln/>
        </p:spPr>
        <p:txBody>
          <a:bodyPr wrap="square" lIns="0" tIns="0" rIns="0" bIns="0" rtlCol="0" anchor="t"/>
          <a:lstStyle/>
          <a:p>
            <a:pPr indent="0" marL="0">
              <a:buNone/>
            </a:pPr>
            <a:r>
              <a:rPr lang="en-US" sz="1600" b="1" dirty="0">
                <a:solidFill>
                  <a:srgbClr val="D81E3A"/>
                </a:solidFill>
                <a:latin typeface="Calibri" pitchFamily="34" charset="0"/>
                <a:ea typeface="Calibri" pitchFamily="34" charset="-122"/>
                <a:cs typeface="Calibri" pitchFamily="34" charset="-120"/>
              </a:rPr>
              <a:t>Sosyal mühendislikle para gönderme (Authorized Push Payment).</a:t>
            </a:r>
            <a:endParaRPr lang="en-US" sz="1600" dirty="0"/>
          </a:p>
        </p:txBody>
      </p:sp>
      <p:sp>
        <p:nvSpPr>
          <p:cNvPr id="11" name="Shape 8"/>
          <p:cNvSpPr/>
          <p:nvPr/>
        </p:nvSpPr>
        <p:spPr>
          <a:xfrm>
            <a:off x="4663440" y="1097280"/>
            <a:ext cx="4023360" cy="3383280"/>
          </a:xfrm>
          <a:prstGeom prst="roundRect">
            <a:avLst>
              <a:gd name="adj" fmla="val 3243"/>
            </a:avLst>
          </a:prstGeom>
          <a:solidFill>
            <a:srgbClr val="D81E3A"/>
          </a:solidFill>
          <a:ln w="12700">
            <a:solidFill>
              <a:srgbClr val="D81E3A"/>
            </a:solidFill>
            <a:prstDash val="solid"/>
          </a:ln>
        </p:spPr>
      </p:sp>
      <p:sp>
        <p:nvSpPr>
          <p:cNvPr id="12" name="Text 9"/>
          <p:cNvSpPr txBox="1"/>
          <p:nvPr/>
        </p:nvSpPr>
        <p:spPr>
          <a:xfrm>
            <a:off x="4937760" y="1234440"/>
            <a:ext cx="347472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Neden zor?</a:t>
            </a:r>
            <a:endParaRPr lang="en-US" sz="2000" dirty="0"/>
          </a:p>
        </p:txBody>
      </p:sp>
      <p:sp>
        <p:nvSpPr>
          <p:cNvPr id="13" name="Text 10"/>
          <p:cNvSpPr txBox="1"/>
          <p:nvPr/>
        </p:nvSpPr>
        <p:spPr>
          <a:xfrm>
            <a:off x="4937760" y="1737360"/>
            <a:ext cx="356616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Giriş ve OTP meşru</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İşlemi müşteri kendisi onaylar</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Saldırı bankanın dışında (telefon, SMS) başlar</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Para hızla katır hesaplara dağılır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Vaka nasıl işliyor?</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457200" y="1097280"/>
            <a:ext cx="8229600" cy="603504"/>
          </a:xfrm>
          <a:prstGeom prst="roundRect">
            <a:avLst>
              <a:gd name="adj" fmla="val 18182"/>
            </a:avLst>
          </a:prstGeom>
          <a:solidFill>
            <a:srgbClr val="FDECEE"/>
          </a:solidFill>
          <a:ln w="12700">
            <a:solidFill>
              <a:srgbClr val="FDECEE"/>
            </a:solidFill>
            <a:prstDash val="solid"/>
          </a:ln>
        </p:spPr>
      </p:sp>
      <p:sp>
        <p:nvSpPr>
          <p:cNvPr id="7" name="Shape 4"/>
          <p:cNvSpPr/>
          <p:nvPr/>
        </p:nvSpPr>
        <p:spPr>
          <a:xfrm>
            <a:off x="594360" y="1188720"/>
            <a:ext cx="420624" cy="420624"/>
          </a:xfrm>
          <a:prstGeom prst="ellipse">
            <a:avLst/>
          </a:prstGeom>
          <a:solidFill>
            <a:srgbClr val="D81E3A"/>
          </a:solidFill>
          <a:ln w="12700">
            <a:solidFill>
              <a:srgbClr val="D81E3A"/>
            </a:solidFill>
            <a:prstDash val="solid"/>
          </a:ln>
        </p:spPr>
      </p:sp>
      <p:sp>
        <p:nvSpPr>
          <p:cNvPr id="8" name="Text 5"/>
          <p:cNvSpPr txBox="1"/>
          <p:nvPr/>
        </p:nvSpPr>
        <p:spPr>
          <a:xfrm>
            <a:off x="594360" y="118872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234440" y="1097280"/>
            <a:ext cx="1554480" cy="603504"/>
          </a:xfrm>
          <a:prstGeom prst="rect">
            <a:avLst/>
          </a:prstGeom>
          <a:noFill/>
          <a:ln/>
        </p:spPr>
        <p:txBody>
          <a:bodyPr wrap="square" lIns="0" tIns="0" rIns="0" bIns="0" rtlCol="0" anchor="ctr"/>
          <a:lstStyle/>
          <a:p>
            <a:pPr indent="0" marL="0">
              <a:buNone/>
            </a:pPr>
            <a:r>
              <a:rPr lang="en-US" sz="1800" b="1" dirty="0">
                <a:solidFill>
                  <a:srgbClr val="2E2E2E"/>
                </a:solidFill>
                <a:latin typeface="Calibri" pitchFamily="34" charset="0"/>
                <a:ea typeface="Calibri" pitchFamily="34" charset="-122"/>
                <a:cs typeface="Calibri" pitchFamily="34" charset="-120"/>
              </a:rPr>
              <a:t>Temas</a:t>
            </a:r>
            <a:endParaRPr lang="en-US" sz="1800" dirty="0"/>
          </a:p>
        </p:txBody>
      </p:sp>
      <p:sp>
        <p:nvSpPr>
          <p:cNvPr id="10" name="Text 7"/>
          <p:cNvSpPr txBox="1"/>
          <p:nvPr/>
        </p:nvSpPr>
        <p:spPr>
          <a:xfrm>
            <a:off x="2743200" y="1097280"/>
            <a:ext cx="5806440" cy="603504"/>
          </a:xfrm>
          <a:prstGeom prst="rect">
            <a:avLst/>
          </a:prstGeom>
          <a:noFill/>
          <a:ln/>
        </p:spPr>
        <p:txBody>
          <a:bodyPr wrap="square" lIns="0" tIns="0" rIns="0" bIns="0" rtlCol="0" anchor="ctr"/>
          <a:lstStyle/>
          <a:p>
            <a:pPr indent="0" marL="0">
              <a:buNone/>
            </a:pPr>
            <a:r>
              <a:rPr lang="en-US" sz="1500" dirty="0">
                <a:solidFill>
                  <a:srgbClr val="2E2E2E"/>
                </a:solidFill>
                <a:latin typeface="Calibri" pitchFamily="34" charset="0"/>
                <a:ea typeface="Calibri" pitchFamily="34" charset="-122"/>
                <a:cs typeface="Calibri" pitchFamily="34" charset="-120"/>
              </a:rPr>
              <a:t>Banka güvenlik birimi adıyla aranır, güven kurulur</a:t>
            </a:r>
            <a:endParaRPr lang="en-US" sz="1500" dirty="0"/>
          </a:p>
        </p:txBody>
      </p:sp>
      <p:sp>
        <p:nvSpPr>
          <p:cNvPr id="11" name="Shape 8"/>
          <p:cNvSpPr/>
          <p:nvPr/>
        </p:nvSpPr>
        <p:spPr>
          <a:xfrm>
            <a:off x="457200" y="1792224"/>
            <a:ext cx="8229600" cy="603504"/>
          </a:xfrm>
          <a:prstGeom prst="roundRect">
            <a:avLst>
              <a:gd name="adj" fmla="val 18182"/>
            </a:avLst>
          </a:prstGeom>
          <a:solidFill>
            <a:srgbClr val="FDECEE"/>
          </a:solidFill>
          <a:ln w="12700">
            <a:solidFill>
              <a:srgbClr val="FDECEE"/>
            </a:solidFill>
            <a:prstDash val="solid"/>
          </a:ln>
        </p:spPr>
      </p:sp>
      <p:sp>
        <p:nvSpPr>
          <p:cNvPr id="12" name="Shape 9"/>
          <p:cNvSpPr/>
          <p:nvPr/>
        </p:nvSpPr>
        <p:spPr>
          <a:xfrm>
            <a:off x="594360" y="1883664"/>
            <a:ext cx="420624" cy="420624"/>
          </a:xfrm>
          <a:prstGeom prst="ellipse">
            <a:avLst/>
          </a:prstGeom>
          <a:solidFill>
            <a:srgbClr val="D81E3A"/>
          </a:solidFill>
          <a:ln w="12700">
            <a:solidFill>
              <a:srgbClr val="D81E3A"/>
            </a:solidFill>
            <a:prstDash val="solid"/>
          </a:ln>
        </p:spPr>
      </p:sp>
      <p:sp>
        <p:nvSpPr>
          <p:cNvPr id="13" name="Text 10"/>
          <p:cNvSpPr txBox="1"/>
          <p:nvPr/>
        </p:nvSpPr>
        <p:spPr>
          <a:xfrm>
            <a:off x="594360" y="188366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234440" y="1792224"/>
            <a:ext cx="1554480" cy="603504"/>
          </a:xfrm>
          <a:prstGeom prst="rect">
            <a:avLst/>
          </a:prstGeom>
          <a:noFill/>
          <a:ln/>
        </p:spPr>
        <p:txBody>
          <a:bodyPr wrap="square" lIns="0" tIns="0" rIns="0" bIns="0" rtlCol="0" anchor="ctr"/>
          <a:lstStyle/>
          <a:p>
            <a:pPr indent="0" marL="0">
              <a:buNone/>
            </a:pPr>
            <a:r>
              <a:rPr lang="en-US" sz="1800" b="1" dirty="0">
                <a:solidFill>
                  <a:srgbClr val="2E2E2E"/>
                </a:solidFill>
                <a:latin typeface="Calibri" pitchFamily="34" charset="0"/>
                <a:ea typeface="Calibri" pitchFamily="34" charset="-122"/>
                <a:cs typeface="Calibri" pitchFamily="34" charset="-120"/>
              </a:rPr>
              <a:t>Baskı</a:t>
            </a:r>
            <a:endParaRPr lang="en-US" sz="1800" dirty="0"/>
          </a:p>
        </p:txBody>
      </p:sp>
      <p:sp>
        <p:nvSpPr>
          <p:cNvPr id="15" name="Text 12"/>
          <p:cNvSpPr txBox="1"/>
          <p:nvPr/>
        </p:nvSpPr>
        <p:spPr>
          <a:xfrm>
            <a:off x="2743200" y="1792224"/>
            <a:ext cx="5806440" cy="603504"/>
          </a:xfrm>
          <a:prstGeom prst="rect">
            <a:avLst/>
          </a:prstGeom>
          <a:noFill/>
          <a:ln/>
        </p:spPr>
        <p:txBody>
          <a:bodyPr wrap="square" lIns="0" tIns="0" rIns="0" bIns="0" rtlCol="0" anchor="ctr"/>
          <a:lstStyle/>
          <a:p>
            <a:pPr indent="0" marL="0">
              <a:buNone/>
            </a:pPr>
            <a:r>
              <a:rPr lang="en-US" sz="1500" dirty="0">
                <a:solidFill>
                  <a:srgbClr val="2E2E2E"/>
                </a:solidFill>
                <a:latin typeface="Calibri" pitchFamily="34" charset="0"/>
                <a:ea typeface="Calibri" pitchFamily="34" charset="-122"/>
                <a:cs typeface="Calibri" pitchFamily="34" charset="-120"/>
              </a:rPr>
              <a:t>Hesabınız tehlikede, hemen para aktarın aciliyeti</a:t>
            </a:r>
            <a:endParaRPr lang="en-US" sz="1500" dirty="0"/>
          </a:p>
        </p:txBody>
      </p:sp>
      <p:sp>
        <p:nvSpPr>
          <p:cNvPr id="16" name="Shape 13"/>
          <p:cNvSpPr/>
          <p:nvPr/>
        </p:nvSpPr>
        <p:spPr>
          <a:xfrm>
            <a:off x="457200" y="2487168"/>
            <a:ext cx="8229600" cy="603504"/>
          </a:xfrm>
          <a:prstGeom prst="roundRect">
            <a:avLst>
              <a:gd name="adj" fmla="val 18182"/>
            </a:avLst>
          </a:prstGeom>
          <a:solidFill>
            <a:srgbClr val="FDECEE"/>
          </a:solidFill>
          <a:ln w="12700">
            <a:solidFill>
              <a:srgbClr val="FDECEE"/>
            </a:solidFill>
            <a:prstDash val="solid"/>
          </a:ln>
        </p:spPr>
      </p:sp>
      <p:sp>
        <p:nvSpPr>
          <p:cNvPr id="17" name="Shape 14"/>
          <p:cNvSpPr/>
          <p:nvPr/>
        </p:nvSpPr>
        <p:spPr>
          <a:xfrm>
            <a:off x="594360" y="2578608"/>
            <a:ext cx="420624" cy="420624"/>
          </a:xfrm>
          <a:prstGeom prst="ellipse">
            <a:avLst/>
          </a:prstGeom>
          <a:solidFill>
            <a:srgbClr val="D81E3A"/>
          </a:solidFill>
          <a:ln w="12700">
            <a:solidFill>
              <a:srgbClr val="D81E3A"/>
            </a:solidFill>
            <a:prstDash val="solid"/>
          </a:ln>
        </p:spPr>
      </p:sp>
      <p:sp>
        <p:nvSpPr>
          <p:cNvPr id="18" name="Text 15"/>
          <p:cNvSpPr txBox="1"/>
          <p:nvPr/>
        </p:nvSpPr>
        <p:spPr>
          <a:xfrm>
            <a:off x="594360" y="25786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234440" y="2487168"/>
            <a:ext cx="1554480" cy="603504"/>
          </a:xfrm>
          <a:prstGeom prst="rect">
            <a:avLst/>
          </a:prstGeom>
          <a:noFill/>
          <a:ln/>
        </p:spPr>
        <p:txBody>
          <a:bodyPr wrap="square" lIns="0" tIns="0" rIns="0" bIns="0" rtlCol="0" anchor="ctr"/>
          <a:lstStyle/>
          <a:p>
            <a:pPr indent="0" marL="0">
              <a:buNone/>
            </a:pPr>
            <a:r>
              <a:rPr lang="en-US" sz="1800" b="1" dirty="0">
                <a:solidFill>
                  <a:srgbClr val="2E2E2E"/>
                </a:solidFill>
                <a:latin typeface="Calibri" pitchFamily="34" charset="0"/>
                <a:ea typeface="Calibri" pitchFamily="34" charset="-122"/>
                <a:cs typeface="Calibri" pitchFamily="34" charset="-120"/>
              </a:rPr>
              <a:t>Havale</a:t>
            </a:r>
            <a:endParaRPr lang="en-US" sz="1800" dirty="0"/>
          </a:p>
        </p:txBody>
      </p:sp>
      <p:sp>
        <p:nvSpPr>
          <p:cNvPr id="20" name="Text 17"/>
          <p:cNvSpPr txBox="1"/>
          <p:nvPr/>
        </p:nvSpPr>
        <p:spPr>
          <a:xfrm>
            <a:off x="2743200" y="2487168"/>
            <a:ext cx="5806440" cy="603504"/>
          </a:xfrm>
          <a:prstGeom prst="rect">
            <a:avLst/>
          </a:prstGeom>
          <a:noFill/>
          <a:ln/>
        </p:spPr>
        <p:txBody>
          <a:bodyPr wrap="square" lIns="0" tIns="0" rIns="0" bIns="0" rtlCol="0" anchor="ctr"/>
          <a:lstStyle/>
          <a:p>
            <a:pPr indent="0" marL="0">
              <a:buNone/>
            </a:pPr>
            <a:r>
              <a:rPr lang="en-US" sz="1500" dirty="0">
                <a:solidFill>
                  <a:srgbClr val="2E2E2E"/>
                </a:solidFill>
                <a:latin typeface="Calibri" pitchFamily="34" charset="0"/>
                <a:ea typeface="Calibri" pitchFamily="34" charset="-122"/>
                <a:cs typeface="Calibri" pitchFamily="34" charset="-120"/>
              </a:rPr>
              <a:t>Kurban kendi uygulamasından, kendi OTP'siyle gönderir</a:t>
            </a:r>
            <a:endParaRPr lang="en-US" sz="1500" dirty="0"/>
          </a:p>
        </p:txBody>
      </p:sp>
      <p:sp>
        <p:nvSpPr>
          <p:cNvPr id="21" name="Shape 18"/>
          <p:cNvSpPr/>
          <p:nvPr/>
        </p:nvSpPr>
        <p:spPr>
          <a:xfrm>
            <a:off x="457200" y="3182112"/>
            <a:ext cx="8229600" cy="603504"/>
          </a:xfrm>
          <a:prstGeom prst="roundRect">
            <a:avLst>
              <a:gd name="adj" fmla="val 18182"/>
            </a:avLst>
          </a:prstGeom>
          <a:solidFill>
            <a:srgbClr val="FDECEE"/>
          </a:solidFill>
          <a:ln w="12700">
            <a:solidFill>
              <a:srgbClr val="FDECEE"/>
            </a:solidFill>
            <a:prstDash val="solid"/>
          </a:ln>
        </p:spPr>
      </p:sp>
      <p:sp>
        <p:nvSpPr>
          <p:cNvPr id="22" name="Shape 19"/>
          <p:cNvSpPr/>
          <p:nvPr/>
        </p:nvSpPr>
        <p:spPr>
          <a:xfrm>
            <a:off x="594360" y="3273552"/>
            <a:ext cx="420624" cy="420624"/>
          </a:xfrm>
          <a:prstGeom prst="ellipse">
            <a:avLst/>
          </a:prstGeom>
          <a:solidFill>
            <a:srgbClr val="D81E3A"/>
          </a:solidFill>
          <a:ln w="12700">
            <a:solidFill>
              <a:srgbClr val="D81E3A"/>
            </a:solidFill>
            <a:prstDash val="solid"/>
          </a:ln>
        </p:spPr>
      </p:sp>
      <p:sp>
        <p:nvSpPr>
          <p:cNvPr id="23" name="Text 20"/>
          <p:cNvSpPr txBox="1"/>
          <p:nvPr/>
        </p:nvSpPr>
        <p:spPr>
          <a:xfrm>
            <a:off x="594360" y="327355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1234440" y="3182112"/>
            <a:ext cx="1554480" cy="603504"/>
          </a:xfrm>
          <a:prstGeom prst="rect">
            <a:avLst/>
          </a:prstGeom>
          <a:noFill/>
          <a:ln/>
        </p:spPr>
        <p:txBody>
          <a:bodyPr wrap="square" lIns="0" tIns="0" rIns="0" bIns="0" rtlCol="0" anchor="ctr"/>
          <a:lstStyle/>
          <a:p>
            <a:pPr indent="0" marL="0">
              <a:buNone/>
            </a:pPr>
            <a:r>
              <a:rPr lang="en-US" sz="1800" b="1" dirty="0">
                <a:solidFill>
                  <a:srgbClr val="2E2E2E"/>
                </a:solidFill>
                <a:latin typeface="Calibri" pitchFamily="34" charset="0"/>
                <a:ea typeface="Calibri" pitchFamily="34" charset="-122"/>
                <a:cs typeface="Calibri" pitchFamily="34" charset="-120"/>
              </a:rPr>
              <a:t>Dağıtım</a:t>
            </a:r>
            <a:endParaRPr lang="en-US" sz="1800" dirty="0"/>
          </a:p>
        </p:txBody>
      </p:sp>
      <p:sp>
        <p:nvSpPr>
          <p:cNvPr id="25" name="Text 22"/>
          <p:cNvSpPr txBox="1"/>
          <p:nvPr/>
        </p:nvSpPr>
        <p:spPr>
          <a:xfrm>
            <a:off x="2743200" y="3182112"/>
            <a:ext cx="5806440" cy="603504"/>
          </a:xfrm>
          <a:prstGeom prst="rect">
            <a:avLst/>
          </a:prstGeom>
          <a:noFill/>
          <a:ln/>
        </p:spPr>
        <p:txBody>
          <a:bodyPr wrap="square" lIns="0" tIns="0" rIns="0" bIns="0" rtlCol="0" anchor="ctr"/>
          <a:lstStyle/>
          <a:p>
            <a:pPr indent="0" marL="0">
              <a:buNone/>
            </a:pPr>
            <a:r>
              <a:rPr lang="en-US" sz="1500" dirty="0">
                <a:solidFill>
                  <a:srgbClr val="2E2E2E"/>
                </a:solidFill>
                <a:latin typeface="Calibri" pitchFamily="34" charset="0"/>
                <a:ea typeface="Calibri" pitchFamily="34" charset="-122"/>
                <a:cs typeface="Calibri" pitchFamily="34" charset="-120"/>
              </a:rPr>
              <a:t>Para katır hesaplara bölünür, nakde çevrilir</a:t>
            </a:r>
            <a:endParaRPr lang="en-US" sz="1500" dirty="0"/>
          </a:p>
        </p:txBody>
      </p:sp>
      <p:sp>
        <p:nvSpPr>
          <p:cNvPr id="26" name="Shape 23"/>
          <p:cNvSpPr/>
          <p:nvPr/>
        </p:nvSpPr>
        <p:spPr>
          <a:xfrm>
            <a:off x="457200" y="3877056"/>
            <a:ext cx="8229600" cy="603504"/>
          </a:xfrm>
          <a:prstGeom prst="roundRect">
            <a:avLst>
              <a:gd name="adj" fmla="val 18182"/>
            </a:avLst>
          </a:prstGeom>
          <a:solidFill>
            <a:srgbClr val="FDECEE"/>
          </a:solidFill>
          <a:ln w="12700">
            <a:solidFill>
              <a:srgbClr val="FDECEE"/>
            </a:solidFill>
            <a:prstDash val="solid"/>
          </a:ln>
        </p:spPr>
      </p:sp>
      <p:sp>
        <p:nvSpPr>
          <p:cNvPr id="27" name="Shape 24"/>
          <p:cNvSpPr/>
          <p:nvPr/>
        </p:nvSpPr>
        <p:spPr>
          <a:xfrm>
            <a:off x="594360" y="3968496"/>
            <a:ext cx="420624" cy="420624"/>
          </a:xfrm>
          <a:prstGeom prst="ellipse">
            <a:avLst/>
          </a:prstGeom>
          <a:solidFill>
            <a:srgbClr val="D81E3A"/>
          </a:solidFill>
          <a:ln w="12700">
            <a:solidFill>
              <a:srgbClr val="D81E3A"/>
            </a:solidFill>
            <a:prstDash val="solid"/>
          </a:ln>
        </p:spPr>
      </p:sp>
      <p:sp>
        <p:nvSpPr>
          <p:cNvPr id="28" name="Text 25"/>
          <p:cNvSpPr txBox="1"/>
          <p:nvPr/>
        </p:nvSpPr>
        <p:spPr>
          <a:xfrm>
            <a:off x="594360" y="396849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6"/>
          <p:cNvSpPr txBox="1"/>
          <p:nvPr/>
        </p:nvSpPr>
        <p:spPr>
          <a:xfrm>
            <a:off x="1234440" y="3877056"/>
            <a:ext cx="1554480" cy="603504"/>
          </a:xfrm>
          <a:prstGeom prst="rect">
            <a:avLst/>
          </a:prstGeom>
          <a:noFill/>
          <a:ln/>
        </p:spPr>
        <p:txBody>
          <a:bodyPr wrap="square" lIns="0" tIns="0" rIns="0" bIns="0" rtlCol="0" anchor="ctr"/>
          <a:lstStyle/>
          <a:p>
            <a:pPr indent="0" marL="0">
              <a:buNone/>
            </a:pPr>
            <a:r>
              <a:rPr lang="en-US" sz="1800" b="1" dirty="0">
                <a:solidFill>
                  <a:srgbClr val="2E2E2E"/>
                </a:solidFill>
                <a:latin typeface="Calibri" pitchFamily="34" charset="0"/>
                <a:ea typeface="Calibri" pitchFamily="34" charset="-122"/>
                <a:cs typeface="Calibri" pitchFamily="34" charset="-120"/>
              </a:rPr>
              <a:t>Fark etme</a:t>
            </a:r>
            <a:endParaRPr lang="en-US" sz="1800" dirty="0"/>
          </a:p>
        </p:txBody>
      </p:sp>
      <p:sp>
        <p:nvSpPr>
          <p:cNvPr id="30" name="Text 27"/>
          <p:cNvSpPr txBox="1"/>
          <p:nvPr/>
        </p:nvSpPr>
        <p:spPr>
          <a:xfrm>
            <a:off x="2743200" y="3877056"/>
            <a:ext cx="5806440" cy="603504"/>
          </a:xfrm>
          <a:prstGeom prst="rect">
            <a:avLst/>
          </a:prstGeom>
          <a:noFill/>
          <a:ln/>
        </p:spPr>
        <p:txBody>
          <a:bodyPr wrap="square" lIns="0" tIns="0" rIns="0" bIns="0" rtlCol="0" anchor="ctr"/>
          <a:lstStyle/>
          <a:p>
            <a:pPr indent="0" marL="0">
              <a:buNone/>
            </a:pPr>
            <a:r>
              <a:rPr lang="en-US" sz="1500" dirty="0">
                <a:solidFill>
                  <a:srgbClr val="2E2E2E"/>
                </a:solidFill>
                <a:latin typeface="Calibri" pitchFamily="34" charset="0"/>
                <a:ea typeface="Calibri" pitchFamily="34" charset="-122"/>
                <a:cs typeface="Calibri" pitchFamily="34" charset="-120"/>
              </a:rPr>
              <a:t>Kurban geç anlar, para geri alınamaz hale gelmiştir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Katır hesap nedir?</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457200" y="1097280"/>
            <a:ext cx="4023360" cy="3383280"/>
          </a:xfrm>
          <a:prstGeom prst="roundRect">
            <a:avLst>
              <a:gd name="adj" fmla="val 3243"/>
            </a:avLst>
          </a:prstGeom>
          <a:solidFill>
            <a:srgbClr val="FDECEE"/>
          </a:solidFill>
          <a:ln w="12700">
            <a:solidFill>
              <a:srgbClr val="FDECEE"/>
            </a:solidFill>
            <a:prstDash val="solid"/>
          </a:ln>
        </p:spPr>
      </p:sp>
      <p:sp>
        <p:nvSpPr>
          <p:cNvPr id="7" name="Text 4"/>
          <p:cNvSpPr txBox="1"/>
          <p:nvPr/>
        </p:nvSpPr>
        <p:spPr>
          <a:xfrm>
            <a:off x="685800" y="1234440"/>
            <a:ext cx="3566160" cy="365760"/>
          </a:xfrm>
          <a:prstGeom prst="rect">
            <a:avLst/>
          </a:prstGeom>
          <a:noFill/>
          <a:ln/>
        </p:spPr>
        <p:txBody>
          <a:bodyPr wrap="square" lIns="0" tIns="0" rIns="0" bIns="0" rtlCol="0" anchor="ctr"/>
          <a:lstStyle/>
          <a:p>
            <a:pPr indent="0" marL="0">
              <a:buNone/>
            </a:pPr>
            <a:r>
              <a:rPr lang="en-US" sz="1900" b="1" dirty="0">
                <a:solidFill>
                  <a:srgbClr val="2E2E2E"/>
                </a:solidFill>
                <a:latin typeface="Calibri" pitchFamily="34" charset="0"/>
                <a:ea typeface="Calibri" pitchFamily="34" charset="-122"/>
                <a:cs typeface="Calibri" pitchFamily="34" charset="-120"/>
              </a:rPr>
              <a:t>Tanım</a:t>
            </a:r>
            <a:endParaRPr lang="en-US" sz="1900" dirty="0"/>
          </a:p>
        </p:txBody>
      </p:sp>
      <p:sp>
        <p:nvSpPr>
          <p:cNvPr id="8" name="Text 5"/>
          <p:cNvSpPr txBox="1"/>
          <p:nvPr/>
        </p:nvSpPr>
        <p:spPr>
          <a:xfrm>
            <a:off x="685800" y="1645920"/>
            <a:ext cx="3566160" cy="1280160"/>
          </a:xfrm>
          <a:prstGeom prst="rect">
            <a:avLst/>
          </a:prstGeom>
          <a:noFill/>
          <a:ln/>
        </p:spPr>
        <p:txBody>
          <a:bodyPr wrap="square" lIns="0" tIns="0" rIns="0" bIns="0" rtlCol="0" anchor="t"/>
          <a:lstStyle/>
          <a:p>
            <a:pPr indent="0" marL="0">
              <a:buNone/>
            </a:pPr>
            <a:r>
              <a:rPr lang="en-US" sz="1500" dirty="0">
                <a:solidFill>
                  <a:srgbClr val="2E2E2E"/>
                </a:solidFill>
                <a:latin typeface="Calibri" pitchFamily="34" charset="0"/>
                <a:ea typeface="Calibri" pitchFamily="34" charset="-122"/>
                <a:cs typeface="Calibri" pitchFamily="34" charset="-120"/>
              </a:rPr>
              <a:t>Dolandırıcılıkla elde edilen paranın izini kaybettirmek için üzerinden geçirildiği ara hesap. Para hızla başka hesaplara dağıtılır.</a:t>
            </a:r>
            <a:endParaRPr lang="en-US" sz="1500" dirty="0"/>
          </a:p>
        </p:txBody>
      </p:sp>
      <p:sp>
        <p:nvSpPr>
          <p:cNvPr id="9" name="Text 6"/>
          <p:cNvSpPr txBox="1"/>
          <p:nvPr/>
        </p:nvSpPr>
        <p:spPr>
          <a:xfrm>
            <a:off x="685800" y="2926080"/>
            <a:ext cx="3566160" cy="365760"/>
          </a:xfrm>
          <a:prstGeom prst="rect">
            <a:avLst/>
          </a:prstGeom>
          <a:noFill/>
          <a:ln/>
        </p:spPr>
        <p:txBody>
          <a:bodyPr wrap="square" lIns="0" tIns="0" rIns="0" bIns="0" rtlCol="0" anchor="ctr"/>
          <a:lstStyle/>
          <a:p>
            <a:pPr indent="0" marL="0">
              <a:buNone/>
            </a:pPr>
            <a:r>
              <a:rPr lang="en-US" sz="1900" b="1" dirty="0">
                <a:solidFill>
                  <a:srgbClr val="2E2E2E"/>
                </a:solidFill>
                <a:latin typeface="Calibri" pitchFamily="34" charset="0"/>
                <a:ea typeface="Calibri" pitchFamily="34" charset="-122"/>
                <a:cs typeface="Calibri" pitchFamily="34" charset="-120"/>
              </a:rPr>
              <a:t>Hesap sahibi kim?</a:t>
            </a:r>
            <a:endParaRPr lang="en-US" sz="1900" dirty="0"/>
          </a:p>
        </p:txBody>
      </p:sp>
      <p:sp>
        <p:nvSpPr>
          <p:cNvPr id="10" name="Text 7"/>
          <p:cNvSpPr txBox="1"/>
          <p:nvPr/>
        </p:nvSpPr>
        <p:spPr>
          <a:xfrm>
            <a:off x="685800" y="3337560"/>
            <a:ext cx="356616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E2E2E"/>
                </a:solidFill>
                <a:latin typeface="Calibri" pitchFamily="34" charset="0"/>
                <a:ea typeface="Calibri" pitchFamily="34" charset="-122"/>
                <a:cs typeface="Calibri" pitchFamily="34" charset="-120"/>
              </a:rPr>
              <a:t>Bilinçli: komisyon karşılığı hesabını kullandırır</a:t>
            </a:r>
            <a:endParaRPr lang="en-US" sz="1400" dirty="0"/>
          </a:p>
          <a:p>
            <a:pPr marL="342900" indent="-342900">
              <a:spcAft>
                <a:spcPts val="600"/>
              </a:spcAft>
              <a:buSzPct val="100000"/>
              <a:buChar char="•"/>
            </a:pPr>
            <a:r>
              <a:rPr lang="en-US" sz="1400" dirty="0">
                <a:solidFill>
                  <a:srgbClr val="2E2E2E"/>
                </a:solidFill>
                <a:latin typeface="Calibri" pitchFamily="34" charset="0"/>
                <a:ea typeface="Calibri" pitchFamily="34" charset="-122"/>
                <a:cs typeface="Calibri" pitchFamily="34" charset="-120"/>
              </a:rPr>
              <a:t>Bilinçsiz: kolay iş ilanıyla kandırılmış kişi</a:t>
            </a:r>
            <a:endParaRPr lang="en-US" sz="1400" dirty="0"/>
          </a:p>
        </p:txBody>
      </p:sp>
      <p:sp>
        <p:nvSpPr>
          <p:cNvPr id="11" name="Shape 8"/>
          <p:cNvSpPr/>
          <p:nvPr/>
        </p:nvSpPr>
        <p:spPr>
          <a:xfrm>
            <a:off x="4663440" y="1097280"/>
            <a:ext cx="4023360" cy="3383280"/>
          </a:xfrm>
          <a:prstGeom prst="roundRect">
            <a:avLst>
              <a:gd name="adj" fmla="val 3243"/>
            </a:avLst>
          </a:prstGeom>
          <a:solidFill>
            <a:srgbClr val="D81E3A"/>
          </a:solidFill>
          <a:ln w="12700">
            <a:solidFill>
              <a:srgbClr val="D81E3A"/>
            </a:solidFill>
            <a:prstDash val="solid"/>
          </a:ln>
        </p:spPr>
      </p:sp>
      <p:sp>
        <p:nvSpPr>
          <p:cNvPr id="12" name="Text 9"/>
          <p:cNvSpPr txBox="1"/>
          <p:nvPr/>
        </p:nvSpPr>
        <p:spPr>
          <a:xfrm>
            <a:off x="4892040" y="1234440"/>
            <a:ext cx="356616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Nasıl tespit edilir?</a:t>
            </a:r>
            <a:endParaRPr lang="en-US" sz="1900" dirty="0"/>
          </a:p>
        </p:txBody>
      </p:sp>
      <p:sp>
        <p:nvSpPr>
          <p:cNvPr id="13" name="Text 10"/>
          <p:cNvSpPr txBox="1"/>
          <p:nvPr/>
        </p:nvSpPr>
        <p:spPr>
          <a:xfrm>
            <a:off x="4892040" y="1691640"/>
            <a:ext cx="3566160" cy="2697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Kısa sürede çok sayıda farklı göndericiden para gelir (fan-in)</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Gönderenler hesaba ilk kez para yollar</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Gelen para hemen çıkar, bakiye durmaz</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Demoda: 30 dakikada 4 gönderici ve 20 bin TL üzeri tutar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Engellemek için çözüm</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651760"/>
                <a:gridCol w="2926080"/>
                <a:gridCol w="2651760"/>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SRE maddesi</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solidFill>
                      <a:srgbClr val="D81E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 yapıyoruz?</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solidFill>
                      <a:srgbClr val="D81E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Örnek</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solidFill>
                      <a:srgbClr val="D81E3A"/>
                    </a:solidFill>
                  </a:tcPr>
                </a:tc>
              </a:tr>
              <a:tr h="530352">
                <a:tc>
                  <a:txBody>
                    <a:bodyPr/>
                    <a:lstStyle/>
                    <a:p>
                      <a:pPr indent="0" marL="0">
                        <a:buNone/>
                      </a:pPr>
                      <a:r>
                        <a:rPr lang="en-US" sz="1400" b="1" dirty="0">
                          <a:solidFill>
                            <a:srgbClr val="2E2E2E"/>
                          </a:solidFill>
                          <a:latin typeface="Calibri" pitchFamily="34" charset="0"/>
                          <a:ea typeface="Calibri" pitchFamily="34" charset="-122"/>
                          <a:cs typeface="Calibri" pitchFamily="34" charset="-120"/>
                        </a:rPr>
                        <a:t>4a Log toplama / parse</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Havale loglarını ayrıştır</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alıcı, tutar, cihaz, aktif çağrı</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r>
              <a:tr h="530352">
                <a:tc>
                  <a:txBody>
                    <a:bodyPr/>
                    <a:lstStyle/>
                    <a:p>
                      <a:pPr indent="0" marL="0">
                        <a:buNone/>
                      </a:pPr>
                      <a:r>
                        <a:rPr lang="en-US" sz="1400" b="1" dirty="0">
                          <a:solidFill>
                            <a:srgbClr val="2E2E2E"/>
                          </a:solidFill>
                          <a:latin typeface="Calibri" pitchFamily="34" charset="0"/>
                          <a:ea typeface="Calibri" pitchFamily="34" charset="-122"/>
                          <a:cs typeface="Calibri" pitchFamily="34" charset="-120"/>
                        </a:rPr>
                        <a:t>4b Metrik belirleme</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Risk metriklerini üret</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riskli işlem oranı, katır sinyali</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r>
              <a:tr h="530352">
                <a:tc>
                  <a:txBody>
                    <a:bodyPr/>
                    <a:lstStyle/>
                    <a:p>
                      <a:pPr indent="0" marL="0">
                        <a:buNone/>
                      </a:pPr>
                      <a:r>
                        <a:rPr lang="en-US" sz="1400" b="1" dirty="0">
                          <a:solidFill>
                            <a:srgbClr val="2E2E2E"/>
                          </a:solidFill>
                          <a:latin typeface="Calibri" pitchFamily="34" charset="0"/>
                          <a:ea typeface="Calibri" pitchFamily="34" charset="-122"/>
                          <a:cs typeface="Calibri" pitchFamily="34" charset="-120"/>
                        </a:rPr>
                        <a:t>4c Alarm kriterleri</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Risk skoru ve eşik tanımla</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skor ≥ 70 → alarm</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r>
              <a:tr h="530352">
                <a:tc>
                  <a:txBody>
                    <a:bodyPr/>
                    <a:lstStyle/>
                    <a:p>
                      <a:pPr indent="0" marL="0">
                        <a:buNone/>
                      </a:pPr>
                      <a:r>
                        <a:rPr lang="en-US" sz="1400" b="1" dirty="0">
                          <a:solidFill>
                            <a:srgbClr val="2E2E2E"/>
                          </a:solidFill>
                          <a:latin typeface="Calibri" pitchFamily="34" charset="0"/>
                          <a:ea typeface="Calibri" pitchFamily="34" charset="-122"/>
                          <a:cs typeface="Calibri" pitchFamily="34" charset="-120"/>
                        </a:rPr>
                        <a:t>3a Script / otomasyon</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Eşik aşılınca otomatik aksiyon</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işlemi bekletme (HOLD)</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r>
              <a:tr h="530352">
                <a:tc>
                  <a:txBody>
                    <a:bodyPr/>
                    <a:lstStyle/>
                    <a:p>
                      <a:pPr indent="0" marL="0">
                        <a:buNone/>
                      </a:pPr>
                      <a:r>
                        <a:rPr lang="en-US" sz="1400" b="1" dirty="0">
                          <a:solidFill>
                            <a:srgbClr val="2E2E2E"/>
                          </a:solidFill>
                          <a:latin typeface="Calibri" pitchFamily="34" charset="0"/>
                          <a:ea typeface="Calibri" pitchFamily="34" charset="-122"/>
                          <a:cs typeface="Calibri" pitchFamily="34" charset="-120"/>
                        </a:rPr>
                        <a:t>3b CI/CD mantığı</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Kuralları kod olarak yönet</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c>
                  <a:txBody>
                    <a:bodyPr/>
                    <a:lstStyle/>
                    <a:p>
                      <a:pPr indent="0" marL="0">
                        <a:buNone/>
                      </a:pPr>
                      <a:r>
                        <a:rPr lang="en-US" sz="1400" dirty="0">
                          <a:solidFill>
                            <a:srgbClr val="2E2E2E"/>
                          </a:solidFill>
                          <a:latin typeface="Calibri" pitchFamily="34" charset="0"/>
                          <a:ea typeface="Calibri" pitchFamily="34" charset="-122"/>
                          <a:cs typeface="Calibri" pitchFamily="34" charset="-120"/>
                        </a:rPr>
                        <a:t>test et, otomatik yayınla</a:t>
                      </a:r>
                      <a:endParaRPr lang="en-US" sz="1400" dirty="0">
                        <a:latin typeface="Calibri" charset="0"/>
                        <a:ea typeface="Calibri" charset="0"/>
                        <a:cs typeface="Calibri" charset="0"/>
                      </a:endParaRPr>
                    </a:p>
                  </a:txBody>
                  <a:tcPr marL="91440" marR="91440" marT="45720" marB="45720" anchor="ctr">
                    <a:lnL w="9525" cap="flat" cmpd="sng" algn="ctr">
                      <a:solidFill>
                        <a:srgbClr val="E8C9CE"/>
                      </a:solidFill>
                      <a:prstDash val="solid"/>
                      <a:round/>
                      <a:headEnd type="none" w="med" len="med"/>
                      <a:tailEnd type="none" w="med" len="med"/>
                    </a:lnL>
                    <a:lnR w="9525" cap="flat" cmpd="sng" algn="ctr">
                      <a:solidFill>
                        <a:srgbClr val="E8C9CE"/>
                      </a:solidFill>
                      <a:prstDash val="solid"/>
                      <a:round/>
                      <a:headEnd type="none" w="med" len="med"/>
                      <a:tailEnd type="none" w="med" len="med"/>
                    </a:lnR>
                    <a:lnT w="9525" cap="flat" cmpd="sng" algn="ctr">
                      <a:solidFill>
                        <a:srgbClr val="E8C9CE"/>
                      </a:solidFill>
                      <a:prstDash val="solid"/>
                      <a:round/>
                      <a:headEnd type="none" w="med" len="med"/>
                      <a:tailEnd type="none" w="med" len="med"/>
                    </a:lnT>
                    <a:lnB w="9525" cap="flat" cmpd="sng" algn="ctr">
                      <a:solidFill>
                        <a:srgbClr val="E8C9CE"/>
                      </a:solidFill>
                      <a:prstDash val="solid"/>
                      <a:round/>
                      <a:headEnd type="none" w="med" len="med"/>
                      <a:tailEnd type="none" w="med" len="med"/>
                    </a:lnB>
                  </a:tcPr>
                </a:tc>
              </a:tr>
            </a:tbl>
          </a:graphicData>
        </a:graphic>
      </p:graphicFrame>
      <p:sp>
        <p:nvSpPr>
          <p:cNvPr id="7" name="Text 3"/>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Kullanıcı tarafı: uygulamada uyarı ekranı ve farkındalık kampanyası</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Alarm kriteri: risk skoru</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graphicFrame>
        <p:nvGraphicFramePr>
          <p:cNvPr id="6" name="Chart 0"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852160" y="1097280"/>
            <a:ext cx="2834640" cy="3383280"/>
          </a:xfrm>
          <a:prstGeom prst="roundRect">
            <a:avLst>
              <a:gd name="adj" fmla="val 3871"/>
            </a:avLst>
          </a:prstGeom>
          <a:solidFill>
            <a:srgbClr val="FDECEE"/>
          </a:solidFill>
          <a:ln w="12700">
            <a:solidFill>
              <a:srgbClr val="FDECEE"/>
            </a:solidFill>
            <a:prstDash val="solid"/>
          </a:ln>
        </p:spPr>
      </p:sp>
      <p:sp>
        <p:nvSpPr>
          <p:cNvPr id="8" name="Text 4"/>
          <p:cNvSpPr txBox="1"/>
          <p:nvPr/>
        </p:nvSpPr>
        <p:spPr>
          <a:xfrm>
            <a:off x="6080760" y="1234440"/>
            <a:ext cx="2377440" cy="365760"/>
          </a:xfrm>
          <a:prstGeom prst="rect">
            <a:avLst/>
          </a:prstGeom>
          <a:noFill/>
          <a:ln/>
        </p:spPr>
        <p:txBody>
          <a:bodyPr wrap="square" lIns="0" tIns="0" rIns="0" bIns="0" rtlCol="0" anchor="ctr"/>
          <a:lstStyle/>
          <a:p>
            <a:pPr indent="0" marL="0">
              <a:buNone/>
            </a:pPr>
            <a:r>
              <a:rPr lang="en-US" sz="1800" b="1" dirty="0">
                <a:solidFill>
                  <a:srgbClr val="2E2E2E"/>
                </a:solidFill>
                <a:latin typeface="Calibri" pitchFamily="34" charset="0"/>
                <a:ea typeface="Calibri" pitchFamily="34" charset="-122"/>
                <a:cs typeface="Calibri" pitchFamily="34" charset="-120"/>
              </a:rPr>
              <a:t>Eşik</a:t>
            </a:r>
            <a:endParaRPr lang="en-US" sz="1800" dirty="0"/>
          </a:p>
        </p:txBody>
      </p:sp>
      <p:sp>
        <p:nvSpPr>
          <p:cNvPr id="9" name="Text 5"/>
          <p:cNvSpPr txBox="1"/>
          <p:nvPr/>
        </p:nvSpPr>
        <p:spPr>
          <a:xfrm>
            <a:off x="6080760" y="1645920"/>
            <a:ext cx="2377440" cy="914400"/>
          </a:xfrm>
          <a:prstGeom prst="rect">
            <a:avLst/>
          </a:prstGeom>
          <a:noFill/>
          <a:ln/>
        </p:spPr>
        <p:txBody>
          <a:bodyPr wrap="square" lIns="0" tIns="0" rIns="0" bIns="0" rtlCol="0" anchor="ctr"/>
          <a:lstStyle/>
          <a:p>
            <a:pPr indent="0" marL="0">
              <a:buNone/>
            </a:pPr>
            <a:r>
              <a:rPr lang="en-US" sz="6000" b="1" dirty="0">
                <a:solidFill>
                  <a:srgbClr val="D81E3A"/>
                </a:solidFill>
                <a:latin typeface="Calibri" pitchFamily="34" charset="0"/>
                <a:ea typeface="Calibri" pitchFamily="34" charset="-122"/>
                <a:cs typeface="Calibri" pitchFamily="34" charset="-120"/>
              </a:rPr>
              <a:t>70</a:t>
            </a:r>
            <a:endParaRPr lang="en-US" sz="6000" dirty="0"/>
          </a:p>
        </p:txBody>
      </p:sp>
      <p:sp>
        <p:nvSpPr>
          <p:cNvPr id="10" name="Text 6"/>
          <p:cNvSpPr txBox="1"/>
          <p:nvPr/>
        </p:nvSpPr>
        <p:spPr>
          <a:xfrm>
            <a:off x="6080760" y="2606040"/>
            <a:ext cx="2377440" cy="82296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ve üzeri skor: işlem bekletilir, ek doğrulama istenir.</a:t>
            </a:r>
            <a:endParaRPr lang="en-US" sz="1400" dirty="0"/>
          </a:p>
        </p:txBody>
      </p:sp>
      <p:sp>
        <p:nvSpPr>
          <p:cNvPr id="11" name="Text 7"/>
          <p:cNvSpPr txBox="1"/>
          <p:nvPr/>
        </p:nvSpPr>
        <p:spPr>
          <a:xfrm>
            <a:off x="6080760" y="3474720"/>
            <a:ext cx="2377440" cy="82296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Ayrıca riskli işlem oranı %2'yi aşarsa ekibe alarm gider.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Skor nasıl gelişir? Üç seviye</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457200" y="1097280"/>
            <a:ext cx="2651760" cy="2743200"/>
          </a:xfrm>
          <a:prstGeom prst="roundRect">
            <a:avLst>
              <a:gd name="adj" fmla="val 4138"/>
            </a:avLst>
          </a:prstGeom>
          <a:solidFill>
            <a:srgbClr val="FDECEE"/>
          </a:solidFill>
          <a:ln w="12700">
            <a:solidFill>
              <a:srgbClr val="FDECEE"/>
            </a:solidFill>
            <a:prstDash val="solid"/>
          </a:ln>
        </p:spPr>
      </p:sp>
      <p:sp>
        <p:nvSpPr>
          <p:cNvPr id="7" name="Shape 4"/>
          <p:cNvSpPr/>
          <p:nvPr/>
        </p:nvSpPr>
        <p:spPr>
          <a:xfrm>
            <a:off x="640080" y="1234440"/>
            <a:ext cx="457200" cy="457200"/>
          </a:xfrm>
          <a:prstGeom prst="ellipse">
            <a:avLst/>
          </a:prstGeom>
          <a:solidFill>
            <a:srgbClr val="D81E3A"/>
          </a:solidFill>
          <a:ln w="12700">
            <a:solidFill>
              <a:srgbClr val="D81E3A"/>
            </a:solidFill>
            <a:prstDash val="solid"/>
          </a:ln>
        </p:spPr>
      </p:sp>
      <p:sp>
        <p:nvSpPr>
          <p:cNvPr id="8" name="Text 5"/>
          <p:cNvSpPr txBox="1"/>
          <p:nvPr/>
        </p:nvSpPr>
        <p:spPr>
          <a:xfrm>
            <a:off x="64008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234440" y="1234440"/>
            <a:ext cx="1783080" cy="457200"/>
          </a:xfrm>
          <a:prstGeom prst="rect">
            <a:avLst/>
          </a:prstGeom>
          <a:noFill/>
          <a:ln/>
        </p:spPr>
        <p:txBody>
          <a:bodyPr wrap="square" lIns="0" tIns="0" rIns="0" bIns="0" rtlCol="0" anchor="ctr"/>
          <a:lstStyle/>
          <a:p>
            <a:pPr indent="0" marL="0">
              <a:buNone/>
            </a:pPr>
            <a:r>
              <a:rPr lang="en-US" sz="1500" b="1" dirty="0">
                <a:solidFill>
                  <a:srgbClr val="2E2E2E"/>
                </a:solidFill>
                <a:latin typeface="Calibri" pitchFamily="34" charset="0"/>
                <a:ea typeface="Calibri" pitchFamily="34" charset="-122"/>
                <a:cs typeface="Calibri" pitchFamily="34" charset="-120"/>
              </a:rPr>
              <a:t>Kural tabanlı</a:t>
            </a:r>
            <a:endParaRPr lang="en-US" sz="1500" dirty="0"/>
          </a:p>
        </p:txBody>
      </p:sp>
      <p:sp>
        <p:nvSpPr>
          <p:cNvPr id="10" name="Text 7"/>
          <p:cNvSpPr txBox="1"/>
          <p:nvPr/>
        </p:nvSpPr>
        <p:spPr>
          <a:xfrm>
            <a:off x="640080" y="1828800"/>
            <a:ext cx="2286000" cy="59436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Elle verilmiş puanlar toplanır</a:t>
            </a:r>
            <a:endParaRPr lang="en-US" sz="1400" dirty="0"/>
          </a:p>
        </p:txBody>
      </p:sp>
      <p:sp>
        <p:nvSpPr>
          <p:cNvPr id="11" name="Text 8"/>
          <p:cNvSpPr txBox="1"/>
          <p:nvPr/>
        </p:nvSpPr>
        <p:spPr>
          <a:xfrm>
            <a:off x="640080" y="2423160"/>
            <a:ext cx="2286000" cy="594360"/>
          </a:xfrm>
          <a:prstGeom prst="rect">
            <a:avLst/>
          </a:prstGeom>
          <a:noFill/>
          <a:ln/>
        </p:spPr>
        <p:txBody>
          <a:bodyPr wrap="square" lIns="0" tIns="0" rIns="0" bIns="0" rtlCol="0" anchor="t"/>
          <a:lstStyle/>
          <a:p>
            <a:pPr indent="0" marL="0">
              <a:buNone/>
            </a:pPr>
            <a:r>
              <a:rPr lang="en-US" sz="1400" dirty="0">
                <a:solidFill>
                  <a:srgbClr val="6B6B6B"/>
                </a:solidFill>
                <a:latin typeface="Calibri" pitchFamily="34" charset="0"/>
                <a:ea typeface="Calibri" pitchFamily="34" charset="-122"/>
                <a:cs typeface="Calibri" pitchFamily="34" charset="-120"/>
              </a:rPr>
              <a:t>Açıklanabilir, hemen uygulanır</a:t>
            </a:r>
            <a:endParaRPr lang="en-US" sz="1400" dirty="0"/>
          </a:p>
        </p:txBody>
      </p:sp>
      <p:sp>
        <p:nvSpPr>
          <p:cNvPr id="12" name="Text 9"/>
          <p:cNvSpPr txBox="1"/>
          <p:nvPr/>
        </p:nvSpPr>
        <p:spPr>
          <a:xfrm>
            <a:off x="640080" y="3017520"/>
            <a:ext cx="2286000" cy="457200"/>
          </a:xfrm>
          <a:prstGeom prst="rect">
            <a:avLst/>
          </a:prstGeom>
          <a:noFill/>
          <a:ln/>
        </p:spPr>
        <p:txBody>
          <a:bodyPr wrap="square" lIns="0" tIns="0" rIns="0" bIns="0" rtlCol="0" anchor="ctr"/>
          <a:lstStyle/>
          <a:p>
            <a:pPr indent="0" marL="0">
              <a:buNone/>
            </a:pPr>
            <a:r>
              <a:rPr lang="en-US" sz="3000" b="1" dirty="0">
                <a:solidFill>
                  <a:srgbClr val="D81E3A"/>
                </a:solidFill>
                <a:latin typeface="Calibri" pitchFamily="34" charset="0"/>
                <a:ea typeface="Calibri" pitchFamily="34" charset="-122"/>
                <a:cs typeface="Calibri" pitchFamily="34" charset="-120"/>
              </a:rPr>
              <a:t>%67</a:t>
            </a:r>
            <a:endParaRPr lang="en-US" sz="3000" dirty="0"/>
          </a:p>
        </p:txBody>
      </p:sp>
      <p:sp>
        <p:nvSpPr>
          <p:cNvPr id="13" name="Text 10"/>
          <p:cNvSpPr txBox="1"/>
          <p:nvPr/>
        </p:nvSpPr>
        <p:spPr>
          <a:xfrm>
            <a:off x="640080" y="3474720"/>
            <a:ext cx="22860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fraud yakalama</a:t>
            </a:r>
            <a:endParaRPr lang="en-US" sz="1200" dirty="0"/>
          </a:p>
        </p:txBody>
      </p:sp>
      <p:sp>
        <p:nvSpPr>
          <p:cNvPr id="14" name="Shape 11"/>
          <p:cNvSpPr/>
          <p:nvPr/>
        </p:nvSpPr>
        <p:spPr>
          <a:xfrm>
            <a:off x="3246120" y="1097280"/>
            <a:ext cx="2651760" cy="2743200"/>
          </a:xfrm>
          <a:prstGeom prst="roundRect">
            <a:avLst>
              <a:gd name="adj" fmla="val 4138"/>
            </a:avLst>
          </a:prstGeom>
          <a:solidFill>
            <a:srgbClr val="FDECEE"/>
          </a:solidFill>
          <a:ln w="12700">
            <a:solidFill>
              <a:srgbClr val="FDECEE"/>
            </a:solidFill>
            <a:prstDash val="solid"/>
          </a:ln>
        </p:spPr>
      </p:sp>
      <p:sp>
        <p:nvSpPr>
          <p:cNvPr id="15" name="Shape 12"/>
          <p:cNvSpPr/>
          <p:nvPr/>
        </p:nvSpPr>
        <p:spPr>
          <a:xfrm>
            <a:off x="3429000" y="1234440"/>
            <a:ext cx="457200" cy="457200"/>
          </a:xfrm>
          <a:prstGeom prst="ellipse">
            <a:avLst/>
          </a:prstGeom>
          <a:solidFill>
            <a:srgbClr val="D81E3A"/>
          </a:solidFill>
          <a:ln w="12700">
            <a:solidFill>
              <a:srgbClr val="D81E3A"/>
            </a:solidFill>
            <a:prstDash val="solid"/>
          </a:ln>
        </p:spPr>
      </p:sp>
      <p:sp>
        <p:nvSpPr>
          <p:cNvPr id="16" name="Text 13"/>
          <p:cNvSpPr txBox="1"/>
          <p:nvPr/>
        </p:nvSpPr>
        <p:spPr>
          <a:xfrm>
            <a:off x="342900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4"/>
          <p:cNvSpPr txBox="1"/>
          <p:nvPr/>
        </p:nvSpPr>
        <p:spPr>
          <a:xfrm>
            <a:off x="4023360" y="1234440"/>
            <a:ext cx="1783080" cy="457200"/>
          </a:xfrm>
          <a:prstGeom prst="rect">
            <a:avLst/>
          </a:prstGeom>
          <a:noFill/>
          <a:ln/>
        </p:spPr>
        <p:txBody>
          <a:bodyPr wrap="square" lIns="0" tIns="0" rIns="0" bIns="0" rtlCol="0" anchor="ctr"/>
          <a:lstStyle/>
          <a:p>
            <a:pPr indent="0" marL="0">
              <a:buNone/>
            </a:pPr>
            <a:r>
              <a:rPr lang="en-US" sz="1500" b="1" dirty="0">
                <a:solidFill>
                  <a:srgbClr val="2E2E2E"/>
                </a:solidFill>
                <a:latin typeface="Calibri" pitchFamily="34" charset="0"/>
                <a:ea typeface="Calibri" pitchFamily="34" charset="-122"/>
                <a:cs typeface="Calibri" pitchFamily="34" charset="-120"/>
              </a:rPr>
              <a:t>Lojistik regresyon</a:t>
            </a:r>
            <a:endParaRPr lang="en-US" sz="1500" dirty="0"/>
          </a:p>
        </p:txBody>
      </p:sp>
      <p:sp>
        <p:nvSpPr>
          <p:cNvPr id="18" name="Text 15"/>
          <p:cNvSpPr txBox="1"/>
          <p:nvPr/>
        </p:nvSpPr>
        <p:spPr>
          <a:xfrm>
            <a:off x="3429000" y="1828800"/>
            <a:ext cx="2286000" cy="59436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Ağırlıklar veriden öğrenilir</a:t>
            </a:r>
            <a:endParaRPr lang="en-US" sz="1400" dirty="0"/>
          </a:p>
        </p:txBody>
      </p:sp>
      <p:sp>
        <p:nvSpPr>
          <p:cNvPr id="19" name="Text 16"/>
          <p:cNvSpPr txBox="1"/>
          <p:nvPr/>
        </p:nvSpPr>
        <p:spPr>
          <a:xfrm>
            <a:off x="3429000" y="2423160"/>
            <a:ext cx="2286000" cy="594360"/>
          </a:xfrm>
          <a:prstGeom prst="rect">
            <a:avLst/>
          </a:prstGeom>
          <a:noFill/>
          <a:ln/>
        </p:spPr>
        <p:txBody>
          <a:bodyPr wrap="square" lIns="0" tIns="0" rIns="0" bIns="0" rtlCol="0" anchor="t"/>
          <a:lstStyle/>
          <a:p>
            <a:pPr indent="0" marL="0">
              <a:buNone/>
            </a:pPr>
            <a:r>
              <a:rPr lang="en-US" sz="1400" dirty="0">
                <a:solidFill>
                  <a:srgbClr val="6B6B6B"/>
                </a:solidFill>
                <a:latin typeface="Calibri" pitchFamily="34" charset="0"/>
                <a:ea typeface="Calibri" pitchFamily="34" charset="-122"/>
                <a:cs typeface="Calibri" pitchFamily="34" charset="-120"/>
              </a:rPr>
              <a:t>Açıklanabilir, tutar oranı gibi sürekli özellik</a:t>
            </a:r>
            <a:endParaRPr lang="en-US" sz="1400" dirty="0"/>
          </a:p>
        </p:txBody>
      </p:sp>
      <p:sp>
        <p:nvSpPr>
          <p:cNvPr id="20" name="Text 17"/>
          <p:cNvSpPr txBox="1"/>
          <p:nvPr/>
        </p:nvSpPr>
        <p:spPr>
          <a:xfrm>
            <a:off x="3429000" y="3017520"/>
            <a:ext cx="2286000" cy="457200"/>
          </a:xfrm>
          <a:prstGeom prst="rect">
            <a:avLst/>
          </a:prstGeom>
          <a:noFill/>
          <a:ln/>
        </p:spPr>
        <p:txBody>
          <a:bodyPr wrap="square" lIns="0" tIns="0" rIns="0" bIns="0" rtlCol="0" anchor="ctr"/>
          <a:lstStyle/>
          <a:p>
            <a:pPr indent="0" marL="0">
              <a:buNone/>
            </a:pPr>
            <a:r>
              <a:rPr lang="en-US" sz="3000" b="1" dirty="0">
                <a:solidFill>
                  <a:srgbClr val="D81E3A"/>
                </a:solidFill>
                <a:latin typeface="Calibri" pitchFamily="34" charset="0"/>
                <a:ea typeface="Calibri" pitchFamily="34" charset="-122"/>
                <a:cs typeface="Calibri" pitchFamily="34" charset="-120"/>
              </a:rPr>
              <a:t>%84</a:t>
            </a:r>
            <a:endParaRPr lang="en-US" sz="3000" dirty="0"/>
          </a:p>
        </p:txBody>
      </p:sp>
      <p:sp>
        <p:nvSpPr>
          <p:cNvPr id="21" name="Text 18"/>
          <p:cNvSpPr txBox="1"/>
          <p:nvPr/>
        </p:nvSpPr>
        <p:spPr>
          <a:xfrm>
            <a:off x="3429000" y="3474720"/>
            <a:ext cx="22860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fraud yakalama</a:t>
            </a:r>
            <a:endParaRPr lang="en-US" sz="1200" dirty="0"/>
          </a:p>
        </p:txBody>
      </p:sp>
      <p:sp>
        <p:nvSpPr>
          <p:cNvPr id="22" name="Shape 19"/>
          <p:cNvSpPr/>
          <p:nvPr/>
        </p:nvSpPr>
        <p:spPr>
          <a:xfrm>
            <a:off x="6035040" y="1097280"/>
            <a:ext cx="2651760" cy="2743200"/>
          </a:xfrm>
          <a:prstGeom prst="roundRect">
            <a:avLst>
              <a:gd name="adj" fmla="val 4138"/>
            </a:avLst>
          </a:prstGeom>
          <a:solidFill>
            <a:srgbClr val="FDECEE"/>
          </a:solidFill>
          <a:ln w="12700">
            <a:solidFill>
              <a:srgbClr val="FDECEE"/>
            </a:solidFill>
            <a:prstDash val="solid"/>
          </a:ln>
        </p:spPr>
      </p:sp>
      <p:sp>
        <p:nvSpPr>
          <p:cNvPr id="23" name="Shape 20"/>
          <p:cNvSpPr/>
          <p:nvPr/>
        </p:nvSpPr>
        <p:spPr>
          <a:xfrm>
            <a:off x="6217920" y="1234440"/>
            <a:ext cx="457200" cy="457200"/>
          </a:xfrm>
          <a:prstGeom prst="ellipse">
            <a:avLst/>
          </a:prstGeom>
          <a:solidFill>
            <a:srgbClr val="D81E3A"/>
          </a:solidFill>
          <a:ln w="12700">
            <a:solidFill>
              <a:srgbClr val="D81E3A"/>
            </a:solidFill>
            <a:prstDash val="solid"/>
          </a:ln>
        </p:spPr>
      </p:sp>
      <p:sp>
        <p:nvSpPr>
          <p:cNvPr id="24" name="Text 21"/>
          <p:cNvSpPr txBox="1"/>
          <p:nvPr/>
        </p:nvSpPr>
        <p:spPr>
          <a:xfrm>
            <a:off x="621792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5" name="Text 22"/>
          <p:cNvSpPr txBox="1"/>
          <p:nvPr/>
        </p:nvSpPr>
        <p:spPr>
          <a:xfrm>
            <a:off x="6812280" y="1234440"/>
            <a:ext cx="1783080" cy="457200"/>
          </a:xfrm>
          <a:prstGeom prst="rect">
            <a:avLst/>
          </a:prstGeom>
          <a:noFill/>
          <a:ln/>
        </p:spPr>
        <p:txBody>
          <a:bodyPr wrap="square" lIns="0" tIns="0" rIns="0" bIns="0" rtlCol="0" anchor="ctr"/>
          <a:lstStyle/>
          <a:p>
            <a:pPr indent="0" marL="0">
              <a:buNone/>
            </a:pPr>
            <a:r>
              <a:rPr lang="en-US" sz="1500" b="1" dirty="0">
                <a:solidFill>
                  <a:srgbClr val="2E2E2E"/>
                </a:solidFill>
                <a:latin typeface="Calibri" pitchFamily="34" charset="0"/>
                <a:ea typeface="Calibri" pitchFamily="34" charset="-122"/>
                <a:cs typeface="Calibri" pitchFamily="34" charset="-120"/>
              </a:rPr>
              <a:t>Gradient boosting (ML)</a:t>
            </a:r>
            <a:endParaRPr lang="en-US" sz="1500" dirty="0"/>
          </a:p>
        </p:txBody>
      </p:sp>
      <p:sp>
        <p:nvSpPr>
          <p:cNvPr id="26" name="Text 23"/>
          <p:cNvSpPr txBox="1"/>
          <p:nvPr/>
        </p:nvSpPr>
        <p:spPr>
          <a:xfrm>
            <a:off x="6217920" y="1828800"/>
            <a:ext cx="2286000" cy="59436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Doğrusal olmayan ilişkileri yakalar</a:t>
            </a:r>
            <a:endParaRPr lang="en-US" sz="1400" dirty="0"/>
          </a:p>
        </p:txBody>
      </p:sp>
      <p:sp>
        <p:nvSpPr>
          <p:cNvPr id="27" name="Text 24"/>
          <p:cNvSpPr txBox="1"/>
          <p:nvPr/>
        </p:nvSpPr>
        <p:spPr>
          <a:xfrm>
            <a:off x="6217920" y="2423160"/>
            <a:ext cx="2286000" cy="594360"/>
          </a:xfrm>
          <a:prstGeom prst="rect">
            <a:avLst/>
          </a:prstGeom>
          <a:noFill/>
          <a:ln/>
        </p:spPr>
        <p:txBody>
          <a:bodyPr wrap="square" lIns="0" tIns="0" rIns="0" bIns="0" rtlCol="0" anchor="t"/>
          <a:lstStyle/>
          <a:p>
            <a:pPr indent="0" marL="0">
              <a:buNone/>
            </a:pPr>
            <a:r>
              <a:rPr lang="en-US" sz="1400" dirty="0">
                <a:solidFill>
                  <a:srgbClr val="6B6B6B"/>
                </a:solidFill>
                <a:latin typeface="Calibri" pitchFamily="34" charset="0"/>
                <a:ea typeface="Calibri" pitchFamily="34" charset="-122"/>
                <a:cs typeface="Calibri" pitchFamily="34" charset="-120"/>
              </a:rPr>
              <a:t>Açıklaması zor, izleme gerekir</a:t>
            </a:r>
            <a:endParaRPr lang="en-US" sz="1400" dirty="0"/>
          </a:p>
        </p:txBody>
      </p:sp>
      <p:sp>
        <p:nvSpPr>
          <p:cNvPr id="28" name="Text 25"/>
          <p:cNvSpPr txBox="1"/>
          <p:nvPr/>
        </p:nvSpPr>
        <p:spPr>
          <a:xfrm>
            <a:off x="6217920" y="3017520"/>
            <a:ext cx="2286000" cy="457200"/>
          </a:xfrm>
          <a:prstGeom prst="rect">
            <a:avLst/>
          </a:prstGeom>
          <a:noFill/>
          <a:ln/>
        </p:spPr>
        <p:txBody>
          <a:bodyPr wrap="square" lIns="0" tIns="0" rIns="0" bIns="0" rtlCol="0" anchor="ctr"/>
          <a:lstStyle/>
          <a:p>
            <a:pPr indent="0" marL="0">
              <a:buNone/>
            </a:pPr>
            <a:r>
              <a:rPr lang="en-US" sz="3000" b="1" dirty="0">
                <a:solidFill>
                  <a:srgbClr val="D81E3A"/>
                </a:solidFill>
                <a:latin typeface="Calibri" pitchFamily="34" charset="0"/>
                <a:ea typeface="Calibri" pitchFamily="34" charset="-122"/>
                <a:cs typeface="Calibri" pitchFamily="34" charset="-120"/>
              </a:rPr>
              <a:t>%83</a:t>
            </a:r>
            <a:endParaRPr lang="en-US" sz="3000" dirty="0"/>
          </a:p>
        </p:txBody>
      </p:sp>
      <p:sp>
        <p:nvSpPr>
          <p:cNvPr id="29" name="Text 26"/>
          <p:cNvSpPr txBox="1"/>
          <p:nvPr/>
        </p:nvSpPr>
        <p:spPr>
          <a:xfrm>
            <a:off x="6217920" y="3474720"/>
            <a:ext cx="22860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fraud yakalama</a:t>
            </a:r>
            <a:endParaRPr lang="en-US" sz="1200" dirty="0"/>
          </a:p>
        </p:txBody>
      </p:sp>
      <p:sp>
        <p:nvSpPr>
          <p:cNvPr id="30" name="Text 27"/>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400" i="1" dirty="0">
                <a:solidFill>
                  <a:srgbClr val="6B6B6B"/>
                </a:solidFill>
                <a:latin typeface="Calibri" pitchFamily="34" charset="0"/>
                <a:ea typeface="Calibri" pitchFamily="34" charset="-122"/>
                <a:cs typeface="Calibri" pitchFamily="34" charset="-120"/>
              </a:rPr>
              <a:t>Aynı yanlış alarm bütçesinde (normal işlemlerin %0,5'i) · kurgusal veri · hibrit yaklaşım: ML skoru + kritik kural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Açık veri setinde test: PaySim</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
        <p:nvSpPr>
          <p:cNvPr id="6" name="Text 3"/>
          <p:cNvSpPr txBox="1"/>
          <p:nvPr/>
        </p:nvSpPr>
        <p:spPr>
          <a:xfrm>
            <a:off x="457200" y="1005840"/>
            <a:ext cx="8229600" cy="32004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532 bin transfer · %1,4 fraud · zamana göre eğitim/test · yanlış alarm %0,5'te sabit</a:t>
            </a:r>
            <a:endParaRPr lang="en-US" sz="1400" dirty="0"/>
          </a:p>
        </p:txBody>
      </p:sp>
      <p:sp>
        <p:nvSpPr>
          <p:cNvPr id="7" name="Shape 4"/>
          <p:cNvSpPr/>
          <p:nvPr/>
        </p:nvSpPr>
        <p:spPr>
          <a:xfrm>
            <a:off x="457200" y="1463040"/>
            <a:ext cx="2651760" cy="1325880"/>
          </a:xfrm>
          <a:prstGeom prst="roundRect">
            <a:avLst>
              <a:gd name="adj" fmla="val 8276"/>
            </a:avLst>
          </a:prstGeom>
          <a:solidFill>
            <a:srgbClr val="FDECEE"/>
          </a:solidFill>
          <a:ln w="12700">
            <a:solidFill>
              <a:srgbClr val="FDECEE"/>
            </a:solidFill>
            <a:prstDash val="solid"/>
          </a:ln>
        </p:spPr>
      </p:sp>
      <p:sp>
        <p:nvSpPr>
          <p:cNvPr id="8" name="Text 5"/>
          <p:cNvSpPr txBox="1"/>
          <p:nvPr/>
        </p:nvSpPr>
        <p:spPr>
          <a:xfrm>
            <a:off x="457200" y="1554480"/>
            <a:ext cx="2651760" cy="685800"/>
          </a:xfrm>
          <a:prstGeom prst="rect">
            <a:avLst/>
          </a:prstGeom>
          <a:noFill/>
          <a:ln/>
        </p:spPr>
        <p:txBody>
          <a:bodyPr wrap="square" lIns="0" tIns="0" rIns="0" bIns="0" rtlCol="0" anchor="ctr"/>
          <a:lstStyle/>
          <a:p>
            <a:pPr algn="ctr" indent="0" marL="0">
              <a:buNone/>
            </a:pPr>
            <a:r>
              <a:rPr lang="en-US" sz="3600" b="1" dirty="0">
                <a:solidFill>
                  <a:srgbClr val="D81E3A"/>
                </a:solidFill>
                <a:latin typeface="Calibri" pitchFamily="34" charset="0"/>
                <a:ea typeface="Calibri" pitchFamily="34" charset="-122"/>
                <a:cs typeface="Calibri" pitchFamily="34" charset="-120"/>
              </a:rPr>
              <a:t>%95</a:t>
            </a:r>
            <a:endParaRPr lang="en-US" sz="3600" dirty="0"/>
          </a:p>
        </p:txBody>
      </p:sp>
      <p:sp>
        <p:nvSpPr>
          <p:cNvPr id="9" name="Text 6"/>
          <p:cNvSpPr txBox="1"/>
          <p:nvPr/>
        </p:nvSpPr>
        <p:spPr>
          <a:xfrm>
            <a:off x="457200" y="2240280"/>
            <a:ext cx="2651760" cy="411480"/>
          </a:xfrm>
          <a:prstGeom prst="rect">
            <a:avLst/>
          </a:prstGeom>
          <a:noFill/>
          <a:ln/>
        </p:spPr>
        <p:txBody>
          <a:bodyPr wrap="square" lIns="0" tIns="0" rIns="0" bIns="0" rtlCol="0" anchor="ctr"/>
          <a:lstStyle/>
          <a:p>
            <a:pPr algn="ctr" indent="0" marL="0">
              <a:buNone/>
            </a:pPr>
            <a:r>
              <a:rPr lang="en-US" sz="1400" dirty="0">
                <a:solidFill>
                  <a:srgbClr val="2E2E2E"/>
                </a:solidFill>
                <a:latin typeface="Calibri" pitchFamily="34" charset="0"/>
                <a:ea typeface="Calibri" pitchFamily="34" charset="-122"/>
                <a:cs typeface="Calibri" pitchFamily="34" charset="-120"/>
              </a:rPr>
              <a:t>Kural tabanlı · fraud yakalama</a:t>
            </a:r>
            <a:endParaRPr lang="en-US" sz="1400" dirty="0"/>
          </a:p>
        </p:txBody>
      </p:sp>
      <p:sp>
        <p:nvSpPr>
          <p:cNvPr id="10" name="Shape 7"/>
          <p:cNvSpPr/>
          <p:nvPr/>
        </p:nvSpPr>
        <p:spPr>
          <a:xfrm>
            <a:off x="3246120" y="1463040"/>
            <a:ext cx="2651760" cy="1325880"/>
          </a:xfrm>
          <a:prstGeom prst="roundRect">
            <a:avLst>
              <a:gd name="adj" fmla="val 8276"/>
            </a:avLst>
          </a:prstGeom>
          <a:solidFill>
            <a:srgbClr val="FDECEE"/>
          </a:solidFill>
          <a:ln w="12700">
            <a:solidFill>
              <a:srgbClr val="FDECEE"/>
            </a:solidFill>
            <a:prstDash val="solid"/>
          </a:ln>
        </p:spPr>
      </p:sp>
      <p:sp>
        <p:nvSpPr>
          <p:cNvPr id="11" name="Text 8"/>
          <p:cNvSpPr txBox="1"/>
          <p:nvPr/>
        </p:nvSpPr>
        <p:spPr>
          <a:xfrm>
            <a:off x="3246120" y="1554480"/>
            <a:ext cx="2651760" cy="685800"/>
          </a:xfrm>
          <a:prstGeom prst="rect">
            <a:avLst/>
          </a:prstGeom>
          <a:noFill/>
          <a:ln/>
        </p:spPr>
        <p:txBody>
          <a:bodyPr wrap="square" lIns="0" tIns="0" rIns="0" bIns="0" rtlCol="0" anchor="ctr"/>
          <a:lstStyle/>
          <a:p>
            <a:pPr algn="ctr" indent="0" marL="0">
              <a:buNone/>
            </a:pPr>
            <a:r>
              <a:rPr lang="en-US" sz="3600" b="1" dirty="0">
                <a:solidFill>
                  <a:srgbClr val="D81E3A"/>
                </a:solidFill>
                <a:latin typeface="Calibri" pitchFamily="34" charset="0"/>
                <a:ea typeface="Calibri" pitchFamily="34" charset="-122"/>
                <a:cs typeface="Calibri" pitchFamily="34" charset="-120"/>
              </a:rPr>
              <a:t>%100</a:t>
            </a:r>
            <a:endParaRPr lang="en-US" sz="3600" dirty="0"/>
          </a:p>
        </p:txBody>
      </p:sp>
      <p:sp>
        <p:nvSpPr>
          <p:cNvPr id="12" name="Text 9"/>
          <p:cNvSpPr txBox="1"/>
          <p:nvPr/>
        </p:nvSpPr>
        <p:spPr>
          <a:xfrm>
            <a:off x="3246120" y="2240280"/>
            <a:ext cx="2651760" cy="411480"/>
          </a:xfrm>
          <a:prstGeom prst="rect">
            <a:avLst/>
          </a:prstGeom>
          <a:noFill/>
          <a:ln/>
        </p:spPr>
        <p:txBody>
          <a:bodyPr wrap="square" lIns="0" tIns="0" rIns="0" bIns="0" rtlCol="0" anchor="ctr"/>
          <a:lstStyle/>
          <a:p>
            <a:pPr algn="ctr" indent="0" marL="0">
              <a:buNone/>
            </a:pPr>
            <a:r>
              <a:rPr lang="en-US" sz="1400" dirty="0">
                <a:solidFill>
                  <a:srgbClr val="2E2E2E"/>
                </a:solidFill>
                <a:latin typeface="Calibri" pitchFamily="34" charset="0"/>
                <a:ea typeface="Calibri" pitchFamily="34" charset="-122"/>
                <a:cs typeface="Calibri" pitchFamily="34" charset="-120"/>
              </a:rPr>
              <a:t>Lojistik regresyon · fraud yakalama</a:t>
            </a:r>
            <a:endParaRPr lang="en-US" sz="1400" dirty="0"/>
          </a:p>
        </p:txBody>
      </p:sp>
      <p:sp>
        <p:nvSpPr>
          <p:cNvPr id="13" name="Shape 10"/>
          <p:cNvSpPr/>
          <p:nvPr/>
        </p:nvSpPr>
        <p:spPr>
          <a:xfrm>
            <a:off x="6035040" y="1463040"/>
            <a:ext cx="2651760" cy="1325880"/>
          </a:xfrm>
          <a:prstGeom prst="roundRect">
            <a:avLst>
              <a:gd name="adj" fmla="val 8276"/>
            </a:avLst>
          </a:prstGeom>
          <a:solidFill>
            <a:srgbClr val="FDECEE"/>
          </a:solidFill>
          <a:ln w="12700">
            <a:solidFill>
              <a:srgbClr val="FDECEE"/>
            </a:solidFill>
            <a:prstDash val="solid"/>
          </a:ln>
        </p:spPr>
      </p:sp>
      <p:sp>
        <p:nvSpPr>
          <p:cNvPr id="14" name="Text 11"/>
          <p:cNvSpPr txBox="1"/>
          <p:nvPr/>
        </p:nvSpPr>
        <p:spPr>
          <a:xfrm>
            <a:off x="6035040" y="1554480"/>
            <a:ext cx="2651760" cy="685800"/>
          </a:xfrm>
          <a:prstGeom prst="rect">
            <a:avLst/>
          </a:prstGeom>
          <a:noFill/>
          <a:ln/>
        </p:spPr>
        <p:txBody>
          <a:bodyPr wrap="square" lIns="0" tIns="0" rIns="0" bIns="0" rtlCol="0" anchor="ctr"/>
          <a:lstStyle/>
          <a:p>
            <a:pPr algn="ctr" indent="0" marL="0">
              <a:buNone/>
            </a:pPr>
            <a:r>
              <a:rPr lang="en-US" sz="3600" b="1" dirty="0">
                <a:solidFill>
                  <a:srgbClr val="D81E3A"/>
                </a:solidFill>
                <a:latin typeface="Calibri" pitchFamily="34" charset="0"/>
                <a:ea typeface="Calibri" pitchFamily="34" charset="-122"/>
                <a:cs typeface="Calibri" pitchFamily="34" charset="-120"/>
              </a:rPr>
              <a:t>%100</a:t>
            </a:r>
            <a:endParaRPr lang="en-US" sz="3600" dirty="0"/>
          </a:p>
        </p:txBody>
      </p:sp>
      <p:sp>
        <p:nvSpPr>
          <p:cNvPr id="15" name="Text 12"/>
          <p:cNvSpPr txBox="1"/>
          <p:nvPr/>
        </p:nvSpPr>
        <p:spPr>
          <a:xfrm>
            <a:off x="6035040" y="2240280"/>
            <a:ext cx="2651760" cy="411480"/>
          </a:xfrm>
          <a:prstGeom prst="rect">
            <a:avLst/>
          </a:prstGeom>
          <a:noFill/>
          <a:ln/>
        </p:spPr>
        <p:txBody>
          <a:bodyPr wrap="square" lIns="0" tIns="0" rIns="0" bIns="0" rtlCol="0" anchor="ctr"/>
          <a:lstStyle/>
          <a:p>
            <a:pPr algn="ctr" indent="0" marL="0">
              <a:buNone/>
            </a:pPr>
            <a:r>
              <a:rPr lang="en-US" sz="1400" dirty="0">
                <a:solidFill>
                  <a:srgbClr val="2E2E2E"/>
                </a:solidFill>
                <a:latin typeface="Calibri" pitchFamily="34" charset="0"/>
                <a:ea typeface="Calibri" pitchFamily="34" charset="-122"/>
                <a:cs typeface="Calibri" pitchFamily="34" charset="-120"/>
              </a:rPr>
              <a:t>Gradient boosting · fraud yakalama</a:t>
            </a:r>
            <a:endParaRPr lang="en-US" sz="1400" dirty="0"/>
          </a:p>
        </p:txBody>
      </p:sp>
      <p:sp>
        <p:nvSpPr>
          <p:cNvPr id="16" name="Shape 13"/>
          <p:cNvSpPr/>
          <p:nvPr/>
        </p:nvSpPr>
        <p:spPr>
          <a:xfrm>
            <a:off x="457200" y="3017520"/>
            <a:ext cx="8229600" cy="1508760"/>
          </a:xfrm>
          <a:prstGeom prst="roundRect">
            <a:avLst>
              <a:gd name="adj" fmla="val 7273"/>
            </a:avLst>
          </a:prstGeom>
          <a:solidFill>
            <a:srgbClr val="D81E3A"/>
          </a:solidFill>
          <a:ln w="12700">
            <a:solidFill>
              <a:srgbClr val="D81E3A"/>
            </a:solidFill>
            <a:prstDash val="solid"/>
          </a:ln>
        </p:spPr>
      </p:sp>
      <p:sp>
        <p:nvSpPr>
          <p:cNvPr id="17" name="Text 14"/>
          <p:cNvSpPr txBox="1"/>
          <p:nvPr/>
        </p:nvSpPr>
        <p:spPr>
          <a:xfrm>
            <a:off x="685800" y="3108960"/>
            <a:ext cx="7772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Dikkat: sonuç gerçek dünyaya göre iyimser</a:t>
            </a:r>
            <a:endParaRPr lang="en-US" sz="1800" dirty="0"/>
          </a:p>
        </p:txBody>
      </p:sp>
      <p:sp>
        <p:nvSpPr>
          <p:cNvPr id="18" name="Text 15"/>
          <p:cNvSpPr txBox="1"/>
          <p:nvPr/>
        </p:nvSpPr>
        <p:spPr>
          <a:xfrm>
            <a:off x="685800" y="3520440"/>
            <a:ext cx="7772400" cy="960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Fraud'ların %96'sı bakiyenin tamamını gönderiyor, normallerde neredeyse hiç yok. APP'ye uygun bir sinyal (“tüm paranızı güvenli hesaba aktarın”).</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Bu sinyal çıkarılınca modeller %27-28 yakalıyor. Cihaz ve çağrı sinyalleri bu yüzden kritik.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Demo sonucu</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457200" y="1097280"/>
            <a:ext cx="1956816" cy="1737360"/>
          </a:xfrm>
          <a:prstGeom prst="roundRect">
            <a:avLst>
              <a:gd name="adj" fmla="val 6316"/>
            </a:avLst>
          </a:prstGeom>
          <a:solidFill>
            <a:srgbClr val="FDECEE"/>
          </a:solidFill>
          <a:ln w="12700">
            <a:solidFill>
              <a:srgbClr val="FDECEE"/>
            </a:solidFill>
            <a:prstDash val="solid"/>
          </a:ln>
        </p:spPr>
      </p:sp>
      <p:sp>
        <p:nvSpPr>
          <p:cNvPr id="7" name="Text 4"/>
          <p:cNvSpPr txBox="1"/>
          <p:nvPr/>
        </p:nvSpPr>
        <p:spPr>
          <a:xfrm>
            <a:off x="457200" y="1234440"/>
            <a:ext cx="1956816" cy="822960"/>
          </a:xfrm>
          <a:prstGeom prst="rect">
            <a:avLst/>
          </a:prstGeom>
          <a:noFill/>
          <a:ln/>
        </p:spPr>
        <p:txBody>
          <a:bodyPr wrap="square" lIns="0" tIns="0" rIns="0" bIns="0" rtlCol="0" anchor="ctr"/>
          <a:lstStyle/>
          <a:p>
            <a:pPr algn="ctr" indent="0" marL="0">
              <a:buNone/>
            </a:pPr>
            <a:r>
              <a:rPr lang="en-US" sz="4000" b="1" dirty="0">
                <a:solidFill>
                  <a:srgbClr val="D81E3A"/>
                </a:solidFill>
                <a:latin typeface="Calibri" pitchFamily="34" charset="0"/>
                <a:ea typeface="Calibri" pitchFamily="34" charset="-122"/>
                <a:cs typeface="Calibri" pitchFamily="34" charset="-120"/>
              </a:rPr>
              <a:t>8 / 8</a:t>
            </a:r>
            <a:endParaRPr lang="en-US" sz="4000" dirty="0"/>
          </a:p>
        </p:txBody>
      </p:sp>
      <p:sp>
        <p:nvSpPr>
          <p:cNvPr id="8" name="Text 5"/>
          <p:cNvSpPr txBox="1"/>
          <p:nvPr/>
        </p:nvSpPr>
        <p:spPr>
          <a:xfrm>
            <a:off x="548640" y="2057400"/>
            <a:ext cx="1773936" cy="685800"/>
          </a:xfrm>
          <a:prstGeom prst="rect">
            <a:avLst/>
          </a:prstGeom>
          <a:noFill/>
          <a:ln/>
        </p:spPr>
        <p:txBody>
          <a:bodyPr wrap="square" lIns="0" tIns="0" rIns="0" bIns="0" rtlCol="0" anchor="t"/>
          <a:lstStyle/>
          <a:p>
            <a:pPr algn="ctr" indent="0" marL="0">
              <a:buNone/>
            </a:pPr>
            <a:r>
              <a:rPr lang="en-US" sz="1400" dirty="0">
                <a:solidFill>
                  <a:srgbClr val="2E2E2E"/>
                </a:solidFill>
                <a:latin typeface="Calibri" pitchFamily="34" charset="0"/>
                <a:ea typeface="Calibri" pitchFamily="34" charset="-122"/>
                <a:cs typeface="Calibri" pitchFamily="34" charset="-120"/>
              </a:rPr>
              <a:t>fraud işlemi yakalandı</a:t>
            </a:r>
            <a:endParaRPr lang="en-US" sz="1400" dirty="0"/>
          </a:p>
        </p:txBody>
      </p:sp>
      <p:sp>
        <p:nvSpPr>
          <p:cNvPr id="9" name="Shape 6"/>
          <p:cNvSpPr/>
          <p:nvPr/>
        </p:nvSpPr>
        <p:spPr>
          <a:xfrm>
            <a:off x="2542032" y="1097280"/>
            <a:ext cx="1956816" cy="1737360"/>
          </a:xfrm>
          <a:prstGeom prst="roundRect">
            <a:avLst>
              <a:gd name="adj" fmla="val 6316"/>
            </a:avLst>
          </a:prstGeom>
          <a:solidFill>
            <a:srgbClr val="FDECEE"/>
          </a:solidFill>
          <a:ln w="12700">
            <a:solidFill>
              <a:srgbClr val="FDECEE"/>
            </a:solidFill>
            <a:prstDash val="solid"/>
          </a:ln>
        </p:spPr>
      </p:sp>
      <p:sp>
        <p:nvSpPr>
          <p:cNvPr id="10" name="Text 7"/>
          <p:cNvSpPr txBox="1"/>
          <p:nvPr/>
        </p:nvSpPr>
        <p:spPr>
          <a:xfrm>
            <a:off x="2542032" y="1234440"/>
            <a:ext cx="1956816" cy="822960"/>
          </a:xfrm>
          <a:prstGeom prst="rect">
            <a:avLst/>
          </a:prstGeom>
          <a:noFill/>
          <a:ln/>
        </p:spPr>
        <p:txBody>
          <a:bodyPr wrap="square" lIns="0" tIns="0" rIns="0" bIns="0" rtlCol="0" anchor="ctr"/>
          <a:lstStyle/>
          <a:p>
            <a:pPr algn="ctr" indent="0" marL="0">
              <a:buNone/>
            </a:pPr>
            <a:r>
              <a:rPr lang="en-US" sz="4000" b="1" dirty="0">
                <a:solidFill>
                  <a:srgbClr val="D81E3A"/>
                </a:solidFill>
                <a:latin typeface="Calibri" pitchFamily="34" charset="0"/>
                <a:ea typeface="Calibri" pitchFamily="34" charset="-122"/>
                <a:cs typeface="Calibri" pitchFamily="34" charset="-120"/>
              </a:rPr>
              <a:t>0</a:t>
            </a:r>
            <a:endParaRPr lang="en-US" sz="4000" dirty="0"/>
          </a:p>
        </p:txBody>
      </p:sp>
      <p:sp>
        <p:nvSpPr>
          <p:cNvPr id="11" name="Text 8"/>
          <p:cNvSpPr txBox="1"/>
          <p:nvPr/>
        </p:nvSpPr>
        <p:spPr>
          <a:xfrm>
            <a:off x="2633472" y="2057400"/>
            <a:ext cx="1773936" cy="685800"/>
          </a:xfrm>
          <a:prstGeom prst="rect">
            <a:avLst/>
          </a:prstGeom>
          <a:noFill/>
          <a:ln/>
        </p:spPr>
        <p:txBody>
          <a:bodyPr wrap="square" lIns="0" tIns="0" rIns="0" bIns="0" rtlCol="0" anchor="t"/>
          <a:lstStyle/>
          <a:p>
            <a:pPr algn="ctr" indent="0" marL="0">
              <a:buNone/>
            </a:pPr>
            <a:r>
              <a:rPr lang="en-US" sz="1400" dirty="0">
                <a:solidFill>
                  <a:srgbClr val="2E2E2E"/>
                </a:solidFill>
                <a:latin typeface="Calibri" pitchFamily="34" charset="0"/>
                <a:ea typeface="Calibri" pitchFamily="34" charset="-122"/>
                <a:cs typeface="Calibri" pitchFamily="34" charset="-120"/>
              </a:rPr>
              <a:t>yanlış alarm</a:t>
            </a:r>
            <a:endParaRPr lang="en-US" sz="1400" dirty="0"/>
          </a:p>
        </p:txBody>
      </p:sp>
      <p:sp>
        <p:nvSpPr>
          <p:cNvPr id="12" name="Shape 9"/>
          <p:cNvSpPr/>
          <p:nvPr/>
        </p:nvSpPr>
        <p:spPr>
          <a:xfrm>
            <a:off x="4626864" y="1097280"/>
            <a:ext cx="1956816" cy="1737360"/>
          </a:xfrm>
          <a:prstGeom prst="roundRect">
            <a:avLst>
              <a:gd name="adj" fmla="val 6316"/>
            </a:avLst>
          </a:prstGeom>
          <a:solidFill>
            <a:srgbClr val="FDECEE"/>
          </a:solidFill>
          <a:ln w="12700">
            <a:solidFill>
              <a:srgbClr val="FDECEE"/>
            </a:solidFill>
            <a:prstDash val="solid"/>
          </a:ln>
        </p:spPr>
      </p:sp>
      <p:sp>
        <p:nvSpPr>
          <p:cNvPr id="13" name="Text 10"/>
          <p:cNvSpPr txBox="1"/>
          <p:nvPr/>
        </p:nvSpPr>
        <p:spPr>
          <a:xfrm>
            <a:off x="4626864" y="1234440"/>
            <a:ext cx="1956816" cy="822960"/>
          </a:xfrm>
          <a:prstGeom prst="rect">
            <a:avLst/>
          </a:prstGeom>
          <a:noFill/>
          <a:ln/>
        </p:spPr>
        <p:txBody>
          <a:bodyPr wrap="square" lIns="0" tIns="0" rIns="0" bIns="0" rtlCol="0" anchor="ctr"/>
          <a:lstStyle/>
          <a:p>
            <a:pPr algn="ctr" indent="0" marL="0">
              <a:buNone/>
            </a:pPr>
            <a:r>
              <a:rPr lang="en-US" sz="2800" b="1" dirty="0">
                <a:solidFill>
                  <a:srgbClr val="D81E3A"/>
                </a:solidFill>
                <a:latin typeface="Calibri" pitchFamily="34" charset="0"/>
                <a:ea typeface="Calibri" pitchFamily="34" charset="-122"/>
                <a:cs typeface="Calibri" pitchFamily="34" charset="-120"/>
              </a:rPr>
              <a:t>533 bin TL</a:t>
            </a:r>
            <a:endParaRPr lang="en-US" sz="2800" dirty="0"/>
          </a:p>
        </p:txBody>
      </p:sp>
      <p:sp>
        <p:nvSpPr>
          <p:cNvPr id="14" name="Text 11"/>
          <p:cNvSpPr txBox="1"/>
          <p:nvPr/>
        </p:nvSpPr>
        <p:spPr>
          <a:xfrm>
            <a:off x="4718304" y="2057400"/>
            <a:ext cx="1773936" cy="685800"/>
          </a:xfrm>
          <a:prstGeom prst="rect">
            <a:avLst/>
          </a:prstGeom>
          <a:noFill/>
          <a:ln/>
        </p:spPr>
        <p:txBody>
          <a:bodyPr wrap="square" lIns="0" tIns="0" rIns="0" bIns="0" rtlCol="0" anchor="t"/>
          <a:lstStyle/>
          <a:p>
            <a:pPr algn="ctr" indent="0" marL="0">
              <a:buNone/>
            </a:pPr>
            <a:r>
              <a:rPr lang="en-US" sz="1400" dirty="0">
                <a:solidFill>
                  <a:srgbClr val="2E2E2E"/>
                </a:solidFill>
                <a:latin typeface="Calibri" pitchFamily="34" charset="0"/>
                <a:ea typeface="Calibri" pitchFamily="34" charset="-122"/>
                <a:cs typeface="Calibri" pitchFamily="34" charset="-120"/>
              </a:rPr>
              <a:t>korunan tutar</a:t>
            </a:r>
            <a:endParaRPr lang="en-US" sz="1400" dirty="0"/>
          </a:p>
        </p:txBody>
      </p:sp>
      <p:sp>
        <p:nvSpPr>
          <p:cNvPr id="15" name="Shape 12"/>
          <p:cNvSpPr/>
          <p:nvPr/>
        </p:nvSpPr>
        <p:spPr>
          <a:xfrm>
            <a:off x="6711696" y="1097280"/>
            <a:ext cx="1956816" cy="1737360"/>
          </a:xfrm>
          <a:prstGeom prst="roundRect">
            <a:avLst>
              <a:gd name="adj" fmla="val 6316"/>
            </a:avLst>
          </a:prstGeom>
          <a:solidFill>
            <a:srgbClr val="FDECEE"/>
          </a:solidFill>
          <a:ln w="12700">
            <a:solidFill>
              <a:srgbClr val="FDECEE"/>
            </a:solidFill>
            <a:prstDash val="solid"/>
          </a:ln>
        </p:spPr>
      </p:sp>
      <p:sp>
        <p:nvSpPr>
          <p:cNvPr id="16" name="Text 13"/>
          <p:cNvSpPr txBox="1"/>
          <p:nvPr/>
        </p:nvSpPr>
        <p:spPr>
          <a:xfrm>
            <a:off x="6711696" y="1234440"/>
            <a:ext cx="1956816" cy="822960"/>
          </a:xfrm>
          <a:prstGeom prst="rect">
            <a:avLst/>
          </a:prstGeom>
          <a:noFill/>
          <a:ln/>
        </p:spPr>
        <p:txBody>
          <a:bodyPr wrap="square" lIns="0" tIns="0" rIns="0" bIns="0" rtlCol="0" anchor="ctr"/>
          <a:lstStyle/>
          <a:p>
            <a:pPr algn="ctr" indent="0" marL="0">
              <a:buNone/>
            </a:pPr>
            <a:r>
              <a:rPr lang="en-US" sz="4000" b="1" dirty="0">
                <a:solidFill>
                  <a:srgbClr val="D81E3A"/>
                </a:solidFill>
                <a:latin typeface="Calibri" pitchFamily="34" charset="0"/>
                <a:ea typeface="Calibri" pitchFamily="34" charset="-122"/>
                <a:cs typeface="Calibri" pitchFamily="34" charset="-120"/>
              </a:rPr>
              <a:t>%2,6</a:t>
            </a:r>
            <a:endParaRPr lang="en-US" sz="4000" dirty="0"/>
          </a:p>
        </p:txBody>
      </p:sp>
      <p:sp>
        <p:nvSpPr>
          <p:cNvPr id="17" name="Text 14"/>
          <p:cNvSpPr txBox="1"/>
          <p:nvPr/>
        </p:nvSpPr>
        <p:spPr>
          <a:xfrm>
            <a:off x="6803136" y="2057400"/>
            <a:ext cx="1773936" cy="685800"/>
          </a:xfrm>
          <a:prstGeom prst="rect">
            <a:avLst/>
          </a:prstGeom>
          <a:noFill/>
          <a:ln/>
        </p:spPr>
        <p:txBody>
          <a:bodyPr wrap="square" lIns="0" tIns="0" rIns="0" bIns="0" rtlCol="0" anchor="t"/>
          <a:lstStyle/>
          <a:p>
            <a:pPr algn="ctr" indent="0" marL="0">
              <a:buNone/>
            </a:pPr>
            <a:r>
              <a:rPr lang="en-US" sz="1400" dirty="0">
                <a:solidFill>
                  <a:srgbClr val="2E2E2E"/>
                </a:solidFill>
                <a:latin typeface="Calibri" pitchFamily="34" charset="0"/>
                <a:ea typeface="Calibri" pitchFamily="34" charset="-122"/>
                <a:cs typeface="Calibri" pitchFamily="34" charset="-120"/>
              </a:rPr>
              <a:t>riskli işlem oranı (eşik %2)</a:t>
            </a:r>
            <a:endParaRPr lang="en-US" sz="1400" dirty="0"/>
          </a:p>
        </p:txBody>
      </p:sp>
      <p:sp>
        <p:nvSpPr>
          <p:cNvPr id="18" name="Shape 15"/>
          <p:cNvSpPr/>
          <p:nvPr/>
        </p:nvSpPr>
        <p:spPr>
          <a:xfrm>
            <a:off x="457200" y="3200400"/>
            <a:ext cx="1481328" cy="731520"/>
          </a:xfrm>
          <a:prstGeom prst="roundRect">
            <a:avLst>
              <a:gd name="adj" fmla="val 12500"/>
            </a:avLst>
          </a:prstGeom>
          <a:solidFill>
            <a:srgbClr val="FFFFFF"/>
          </a:solidFill>
          <a:ln w="19050">
            <a:solidFill>
              <a:srgbClr val="D81E3A"/>
            </a:solidFill>
            <a:prstDash val="solid"/>
          </a:ln>
        </p:spPr>
      </p:sp>
      <p:sp>
        <p:nvSpPr>
          <p:cNvPr id="19" name="Text 16"/>
          <p:cNvSpPr txBox="1"/>
          <p:nvPr/>
        </p:nvSpPr>
        <p:spPr>
          <a:xfrm>
            <a:off x="457200" y="3200400"/>
            <a:ext cx="1481328" cy="731520"/>
          </a:xfrm>
          <a:prstGeom prst="rect">
            <a:avLst/>
          </a:prstGeom>
          <a:noFill/>
          <a:ln/>
        </p:spPr>
        <p:txBody>
          <a:bodyPr wrap="square" lIns="0" tIns="0" rIns="0" bIns="0" rtlCol="0" anchor="ctr"/>
          <a:lstStyle/>
          <a:p>
            <a:pPr algn="ctr" indent="0" marL="0">
              <a:buNone/>
            </a:pPr>
            <a:r>
              <a:rPr lang="en-US" sz="1400" b="1" dirty="0">
                <a:solidFill>
                  <a:srgbClr val="D81E3A"/>
                </a:solidFill>
                <a:latin typeface="Calibri" pitchFamily="34" charset="0"/>
                <a:ea typeface="Calibri" pitchFamily="34" charset="-122"/>
                <a:cs typeface="Calibri" pitchFamily="34" charset="-120"/>
              </a:rPr>
              <a:t>Log üret</a:t>
            </a:r>
            <a:endParaRPr lang="en-US" sz="1400" dirty="0"/>
          </a:p>
        </p:txBody>
      </p:sp>
      <p:sp>
        <p:nvSpPr>
          <p:cNvPr id="20" name="Text 17"/>
          <p:cNvSpPr txBox="1"/>
          <p:nvPr/>
        </p:nvSpPr>
        <p:spPr>
          <a:xfrm>
            <a:off x="1938528" y="3200400"/>
            <a:ext cx="182880" cy="731520"/>
          </a:xfrm>
          <a:prstGeom prst="rect">
            <a:avLst/>
          </a:prstGeom>
          <a:noFill/>
          <a:ln/>
        </p:spPr>
        <p:txBody>
          <a:bodyPr wrap="square" lIns="0" tIns="0" rIns="0" bIns="0" rtlCol="0" anchor="ctr"/>
          <a:lstStyle/>
          <a:p>
            <a:pPr algn="ctr" indent="0" marL="0">
              <a:buNone/>
            </a:pPr>
            <a:r>
              <a:rPr lang="en-US" sz="2200" b="1" dirty="0">
                <a:solidFill>
                  <a:srgbClr val="D81E3A"/>
                </a:solidFill>
                <a:latin typeface="Calibri" pitchFamily="34" charset="0"/>
                <a:ea typeface="Calibri" pitchFamily="34" charset="-122"/>
                <a:cs typeface="Calibri" pitchFamily="34" charset="-120"/>
              </a:rPr>
              <a:t>›</a:t>
            </a:r>
            <a:endParaRPr lang="en-US" sz="2200" dirty="0"/>
          </a:p>
        </p:txBody>
      </p:sp>
      <p:sp>
        <p:nvSpPr>
          <p:cNvPr id="21" name="Shape 18"/>
          <p:cNvSpPr/>
          <p:nvPr/>
        </p:nvSpPr>
        <p:spPr>
          <a:xfrm>
            <a:off x="2121408" y="3200400"/>
            <a:ext cx="1481328" cy="731520"/>
          </a:xfrm>
          <a:prstGeom prst="roundRect">
            <a:avLst>
              <a:gd name="adj" fmla="val 12500"/>
            </a:avLst>
          </a:prstGeom>
          <a:solidFill>
            <a:srgbClr val="FFFFFF"/>
          </a:solidFill>
          <a:ln w="19050">
            <a:solidFill>
              <a:srgbClr val="D81E3A"/>
            </a:solidFill>
            <a:prstDash val="solid"/>
          </a:ln>
        </p:spPr>
      </p:sp>
      <p:sp>
        <p:nvSpPr>
          <p:cNvPr id="22" name="Text 19"/>
          <p:cNvSpPr txBox="1"/>
          <p:nvPr/>
        </p:nvSpPr>
        <p:spPr>
          <a:xfrm>
            <a:off x="2121408" y="3200400"/>
            <a:ext cx="1481328" cy="731520"/>
          </a:xfrm>
          <a:prstGeom prst="rect">
            <a:avLst/>
          </a:prstGeom>
          <a:noFill/>
          <a:ln/>
        </p:spPr>
        <p:txBody>
          <a:bodyPr wrap="square" lIns="0" tIns="0" rIns="0" bIns="0" rtlCol="0" anchor="ctr"/>
          <a:lstStyle/>
          <a:p>
            <a:pPr algn="ctr" indent="0" marL="0">
              <a:buNone/>
            </a:pPr>
            <a:r>
              <a:rPr lang="en-US" sz="1400" b="1" dirty="0">
                <a:solidFill>
                  <a:srgbClr val="D81E3A"/>
                </a:solidFill>
                <a:latin typeface="Calibri" pitchFamily="34" charset="0"/>
                <a:ea typeface="Calibri" pitchFamily="34" charset="-122"/>
                <a:cs typeface="Calibri" pitchFamily="34" charset="-120"/>
              </a:rPr>
              <a:t>Parse et</a:t>
            </a:r>
            <a:endParaRPr lang="en-US" sz="1400" dirty="0"/>
          </a:p>
        </p:txBody>
      </p:sp>
      <p:sp>
        <p:nvSpPr>
          <p:cNvPr id="23" name="Text 20"/>
          <p:cNvSpPr txBox="1"/>
          <p:nvPr/>
        </p:nvSpPr>
        <p:spPr>
          <a:xfrm>
            <a:off x="3602736" y="3200400"/>
            <a:ext cx="182880" cy="731520"/>
          </a:xfrm>
          <a:prstGeom prst="rect">
            <a:avLst/>
          </a:prstGeom>
          <a:noFill/>
          <a:ln/>
        </p:spPr>
        <p:txBody>
          <a:bodyPr wrap="square" lIns="0" tIns="0" rIns="0" bIns="0" rtlCol="0" anchor="ctr"/>
          <a:lstStyle/>
          <a:p>
            <a:pPr algn="ctr" indent="0" marL="0">
              <a:buNone/>
            </a:pPr>
            <a:r>
              <a:rPr lang="en-US" sz="2200" b="1" dirty="0">
                <a:solidFill>
                  <a:srgbClr val="D81E3A"/>
                </a:solidFill>
                <a:latin typeface="Calibri" pitchFamily="34" charset="0"/>
                <a:ea typeface="Calibri" pitchFamily="34" charset="-122"/>
                <a:cs typeface="Calibri" pitchFamily="34" charset="-120"/>
              </a:rPr>
              <a:t>›</a:t>
            </a:r>
            <a:endParaRPr lang="en-US" sz="2200" dirty="0"/>
          </a:p>
        </p:txBody>
      </p:sp>
      <p:sp>
        <p:nvSpPr>
          <p:cNvPr id="24" name="Shape 21"/>
          <p:cNvSpPr/>
          <p:nvPr/>
        </p:nvSpPr>
        <p:spPr>
          <a:xfrm>
            <a:off x="3785616" y="3200400"/>
            <a:ext cx="1481328" cy="731520"/>
          </a:xfrm>
          <a:prstGeom prst="roundRect">
            <a:avLst>
              <a:gd name="adj" fmla="val 12500"/>
            </a:avLst>
          </a:prstGeom>
          <a:solidFill>
            <a:srgbClr val="FFFFFF"/>
          </a:solidFill>
          <a:ln w="19050">
            <a:solidFill>
              <a:srgbClr val="D81E3A"/>
            </a:solidFill>
            <a:prstDash val="solid"/>
          </a:ln>
        </p:spPr>
      </p:sp>
      <p:sp>
        <p:nvSpPr>
          <p:cNvPr id="25" name="Text 22"/>
          <p:cNvSpPr txBox="1"/>
          <p:nvPr/>
        </p:nvSpPr>
        <p:spPr>
          <a:xfrm>
            <a:off x="3785616" y="3200400"/>
            <a:ext cx="1481328" cy="731520"/>
          </a:xfrm>
          <a:prstGeom prst="rect">
            <a:avLst/>
          </a:prstGeom>
          <a:noFill/>
          <a:ln/>
        </p:spPr>
        <p:txBody>
          <a:bodyPr wrap="square" lIns="0" tIns="0" rIns="0" bIns="0" rtlCol="0" anchor="ctr"/>
          <a:lstStyle/>
          <a:p>
            <a:pPr algn="ctr" indent="0" marL="0">
              <a:buNone/>
            </a:pPr>
            <a:r>
              <a:rPr lang="en-US" sz="1400" b="1" dirty="0">
                <a:solidFill>
                  <a:srgbClr val="D81E3A"/>
                </a:solidFill>
                <a:latin typeface="Calibri" pitchFamily="34" charset="0"/>
                <a:ea typeface="Calibri" pitchFamily="34" charset="-122"/>
                <a:cs typeface="Calibri" pitchFamily="34" charset="-120"/>
              </a:rPr>
              <a:t>Metrik hesapla</a:t>
            </a:r>
            <a:endParaRPr lang="en-US" sz="1400" dirty="0"/>
          </a:p>
        </p:txBody>
      </p:sp>
      <p:sp>
        <p:nvSpPr>
          <p:cNvPr id="26" name="Text 23"/>
          <p:cNvSpPr txBox="1"/>
          <p:nvPr/>
        </p:nvSpPr>
        <p:spPr>
          <a:xfrm>
            <a:off x="5266944" y="3200400"/>
            <a:ext cx="182880" cy="731520"/>
          </a:xfrm>
          <a:prstGeom prst="rect">
            <a:avLst/>
          </a:prstGeom>
          <a:noFill/>
          <a:ln/>
        </p:spPr>
        <p:txBody>
          <a:bodyPr wrap="square" lIns="0" tIns="0" rIns="0" bIns="0" rtlCol="0" anchor="ctr"/>
          <a:lstStyle/>
          <a:p>
            <a:pPr algn="ctr" indent="0" marL="0">
              <a:buNone/>
            </a:pPr>
            <a:r>
              <a:rPr lang="en-US" sz="2200" b="1" dirty="0">
                <a:solidFill>
                  <a:srgbClr val="D81E3A"/>
                </a:solidFill>
                <a:latin typeface="Calibri" pitchFamily="34" charset="0"/>
                <a:ea typeface="Calibri" pitchFamily="34" charset="-122"/>
                <a:cs typeface="Calibri" pitchFamily="34" charset="-120"/>
              </a:rPr>
              <a:t>›</a:t>
            </a:r>
            <a:endParaRPr lang="en-US" sz="2200" dirty="0"/>
          </a:p>
        </p:txBody>
      </p:sp>
      <p:sp>
        <p:nvSpPr>
          <p:cNvPr id="27" name="Shape 24"/>
          <p:cNvSpPr/>
          <p:nvPr/>
        </p:nvSpPr>
        <p:spPr>
          <a:xfrm>
            <a:off x="5449824" y="3200400"/>
            <a:ext cx="1481328" cy="731520"/>
          </a:xfrm>
          <a:prstGeom prst="roundRect">
            <a:avLst>
              <a:gd name="adj" fmla="val 12500"/>
            </a:avLst>
          </a:prstGeom>
          <a:solidFill>
            <a:srgbClr val="FFFFFF"/>
          </a:solidFill>
          <a:ln w="19050">
            <a:solidFill>
              <a:srgbClr val="D81E3A"/>
            </a:solidFill>
            <a:prstDash val="solid"/>
          </a:ln>
        </p:spPr>
      </p:sp>
      <p:sp>
        <p:nvSpPr>
          <p:cNvPr id="28" name="Text 25"/>
          <p:cNvSpPr txBox="1"/>
          <p:nvPr/>
        </p:nvSpPr>
        <p:spPr>
          <a:xfrm>
            <a:off x="5449824" y="3200400"/>
            <a:ext cx="1481328" cy="731520"/>
          </a:xfrm>
          <a:prstGeom prst="rect">
            <a:avLst/>
          </a:prstGeom>
          <a:noFill/>
          <a:ln/>
        </p:spPr>
        <p:txBody>
          <a:bodyPr wrap="square" lIns="0" tIns="0" rIns="0" bIns="0" rtlCol="0" anchor="ctr"/>
          <a:lstStyle/>
          <a:p>
            <a:pPr algn="ctr" indent="0" marL="0">
              <a:buNone/>
            </a:pPr>
            <a:r>
              <a:rPr lang="en-US" sz="1400" b="1" dirty="0">
                <a:solidFill>
                  <a:srgbClr val="D81E3A"/>
                </a:solidFill>
                <a:latin typeface="Calibri" pitchFamily="34" charset="0"/>
                <a:ea typeface="Calibri" pitchFamily="34" charset="-122"/>
                <a:cs typeface="Calibri" pitchFamily="34" charset="-120"/>
              </a:rPr>
              <a:t>Kural ve alarm</a:t>
            </a:r>
            <a:endParaRPr lang="en-US" sz="1400" dirty="0"/>
          </a:p>
        </p:txBody>
      </p:sp>
      <p:sp>
        <p:nvSpPr>
          <p:cNvPr id="29" name="Text 26"/>
          <p:cNvSpPr txBox="1"/>
          <p:nvPr/>
        </p:nvSpPr>
        <p:spPr>
          <a:xfrm>
            <a:off x="6931152" y="3200400"/>
            <a:ext cx="182880" cy="731520"/>
          </a:xfrm>
          <a:prstGeom prst="rect">
            <a:avLst/>
          </a:prstGeom>
          <a:noFill/>
          <a:ln/>
        </p:spPr>
        <p:txBody>
          <a:bodyPr wrap="square" lIns="0" tIns="0" rIns="0" bIns="0" rtlCol="0" anchor="ctr"/>
          <a:lstStyle/>
          <a:p>
            <a:pPr algn="ctr" indent="0" marL="0">
              <a:buNone/>
            </a:pPr>
            <a:r>
              <a:rPr lang="en-US" sz="2200" b="1" dirty="0">
                <a:solidFill>
                  <a:srgbClr val="D81E3A"/>
                </a:solidFill>
                <a:latin typeface="Calibri" pitchFamily="34" charset="0"/>
                <a:ea typeface="Calibri" pitchFamily="34" charset="-122"/>
                <a:cs typeface="Calibri" pitchFamily="34" charset="-120"/>
              </a:rPr>
              <a:t>›</a:t>
            </a:r>
            <a:endParaRPr lang="en-US" sz="2200" dirty="0"/>
          </a:p>
        </p:txBody>
      </p:sp>
      <p:sp>
        <p:nvSpPr>
          <p:cNvPr id="30" name="Shape 27"/>
          <p:cNvSpPr/>
          <p:nvPr/>
        </p:nvSpPr>
        <p:spPr>
          <a:xfrm>
            <a:off x="7114032" y="3200400"/>
            <a:ext cx="1481328" cy="731520"/>
          </a:xfrm>
          <a:prstGeom prst="roundRect">
            <a:avLst>
              <a:gd name="adj" fmla="val 12500"/>
            </a:avLst>
          </a:prstGeom>
          <a:solidFill>
            <a:srgbClr val="D81E3A"/>
          </a:solidFill>
          <a:ln w="19050">
            <a:solidFill>
              <a:srgbClr val="D81E3A"/>
            </a:solidFill>
            <a:prstDash val="solid"/>
          </a:ln>
        </p:spPr>
      </p:sp>
      <p:sp>
        <p:nvSpPr>
          <p:cNvPr id="31" name="Text 28"/>
          <p:cNvSpPr txBox="1"/>
          <p:nvPr/>
        </p:nvSpPr>
        <p:spPr>
          <a:xfrm>
            <a:off x="7114032" y="3200400"/>
            <a:ext cx="1481328"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HOLD</a:t>
            </a:r>
            <a:endParaRPr lang="en-US" sz="1400" dirty="0"/>
          </a:p>
        </p:txBody>
      </p:sp>
      <p:sp>
        <p:nvSpPr>
          <p:cNvPr id="32" name="Text 29"/>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Kurgusal veriyle çalışan Python demosu · 4a, 4b, 4c ve 3a maddelerini gösterir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Vaka yaşanırsa ne yapılmalı?</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457200" y="1097280"/>
            <a:ext cx="4023360" cy="1005840"/>
          </a:xfrm>
          <a:prstGeom prst="roundRect">
            <a:avLst>
              <a:gd name="adj" fmla="val 10909"/>
            </a:avLst>
          </a:prstGeom>
          <a:solidFill>
            <a:srgbClr val="FDECEE"/>
          </a:solidFill>
          <a:ln w="12700">
            <a:solidFill>
              <a:srgbClr val="FDECEE"/>
            </a:solidFill>
            <a:prstDash val="solid"/>
          </a:ln>
        </p:spPr>
      </p:sp>
      <p:sp>
        <p:nvSpPr>
          <p:cNvPr id="7" name="Shape 4"/>
          <p:cNvSpPr/>
          <p:nvPr/>
        </p:nvSpPr>
        <p:spPr>
          <a:xfrm>
            <a:off x="594360" y="1371600"/>
            <a:ext cx="457200" cy="457200"/>
          </a:xfrm>
          <a:prstGeom prst="ellipse">
            <a:avLst/>
          </a:prstGeom>
          <a:solidFill>
            <a:srgbClr val="D81E3A"/>
          </a:solidFill>
          <a:ln w="12700">
            <a:solidFill>
              <a:srgbClr val="D81E3A"/>
            </a:solidFill>
            <a:prstDash val="solid"/>
          </a:ln>
        </p:spPr>
      </p:sp>
      <p:sp>
        <p:nvSpPr>
          <p:cNvPr id="8" name="Text 5"/>
          <p:cNvSpPr txBox="1"/>
          <p:nvPr/>
        </p:nvSpPr>
        <p:spPr>
          <a:xfrm>
            <a:off x="59436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234440" y="1170432"/>
            <a:ext cx="3108960" cy="347472"/>
          </a:xfrm>
          <a:prstGeom prst="rect">
            <a:avLst/>
          </a:prstGeom>
          <a:noFill/>
          <a:ln/>
        </p:spPr>
        <p:txBody>
          <a:bodyPr wrap="square" lIns="0" tIns="0" rIns="0" bIns="0" rtlCol="0" anchor="ctr"/>
          <a:lstStyle/>
          <a:p>
            <a:pPr indent="0" marL="0">
              <a:buNone/>
            </a:pPr>
            <a:r>
              <a:rPr lang="en-US" sz="1700" b="1" dirty="0">
                <a:solidFill>
                  <a:srgbClr val="2E2E2E"/>
                </a:solidFill>
                <a:latin typeface="Calibri" pitchFamily="34" charset="0"/>
                <a:ea typeface="Calibri" pitchFamily="34" charset="-122"/>
                <a:cs typeface="Calibri" pitchFamily="34" charset="-120"/>
              </a:rPr>
              <a:t>Tespit</a:t>
            </a:r>
            <a:endParaRPr lang="en-US" sz="1700" dirty="0"/>
          </a:p>
        </p:txBody>
      </p:sp>
      <p:sp>
        <p:nvSpPr>
          <p:cNvPr id="10" name="Text 7"/>
          <p:cNvSpPr txBox="1"/>
          <p:nvPr/>
        </p:nvSpPr>
        <p:spPr>
          <a:xfrm>
            <a:off x="1234440" y="1508760"/>
            <a:ext cx="3108960" cy="54864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Alarm tetiklenir, nöbetçi ekip bilgilenir</a:t>
            </a:r>
            <a:endParaRPr lang="en-US" sz="1400" dirty="0"/>
          </a:p>
        </p:txBody>
      </p:sp>
      <p:sp>
        <p:nvSpPr>
          <p:cNvPr id="11" name="Shape 8"/>
          <p:cNvSpPr/>
          <p:nvPr/>
        </p:nvSpPr>
        <p:spPr>
          <a:xfrm>
            <a:off x="4663440" y="1097280"/>
            <a:ext cx="4023360" cy="1005840"/>
          </a:xfrm>
          <a:prstGeom prst="roundRect">
            <a:avLst>
              <a:gd name="adj" fmla="val 10909"/>
            </a:avLst>
          </a:prstGeom>
          <a:solidFill>
            <a:srgbClr val="FDECEE"/>
          </a:solidFill>
          <a:ln w="12700">
            <a:solidFill>
              <a:srgbClr val="FDECEE"/>
            </a:solidFill>
            <a:prstDash val="solid"/>
          </a:ln>
        </p:spPr>
      </p:sp>
      <p:sp>
        <p:nvSpPr>
          <p:cNvPr id="12" name="Shape 9"/>
          <p:cNvSpPr/>
          <p:nvPr/>
        </p:nvSpPr>
        <p:spPr>
          <a:xfrm>
            <a:off x="4800600" y="1371600"/>
            <a:ext cx="457200" cy="457200"/>
          </a:xfrm>
          <a:prstGeom prst="ellipse">
            <a:avLst/>
          </a:prstGeom>
          <a:solidFill>
            <a:srgbClr val="D81E3A"/>
          </a:solidFill>
          <a:ln w="12700">
            <a:solidFill>
              <a:srgbClr val="D81E3A"/>
            </a:solidFill>
            <a:prstDash val="solid"/>
          </a:ln>
        </p:spPr>
      </p:sp>
      <p:sp>
        <p:nvSpPr>
          <p:cNvPr id="13" name="Text 10"/>
          <p:cNvSpPr txBox="1"/>
          <p:nvPr/>
        </p:nvSpPr>
        <p:spPr>
          <a:xfrm>
            <a:off x="480060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5440680" y="1170432"/>
            <a:ext cx="3108960" cy="347472"/>
          </a:xfrm>
          <a:prstGeom prst="rect">
            <a:avLst/>
          </a:prstGeom>
          <a:noFill/>
          <a:ln/>
        </p:spPr>
        <p:txBody>
          <a:bodyPr wrap="square" lIns="0" tIns="0" rIns="0" bIns="0" rtlCol="0" anchor="ctr"/>
          <a:lstStyle/>
          <a:p>
            <a:pPr indent="0" marL="0">
              <a:buNone/>
            </a:pPr>
            <a:r>
              <a:rPr lang="en-US" sz="1700" b="1" dirty="0">
                <a:solidFill>
                  <a:srgbClr val="2E2E2E"/>
                </a:solidFill>
                <a:latin typeface="Calibri" pitchFamily="34" charset="0"/>
                <a:ea typeface="Calibri" pitchFamily="34" charset="-122"/>
                <a:cs typeface="Calibri" pitchFamily="34" charset="-120"/>
              </a:rPr>
              <a:t>Etki analizi</a:t>
            </a:r>
            <a:endParaRPr lang="en-US" sz="1700" dirty="0"/>
          </a:p>
        </p:txBody>
      </p:sp>
      <p:sp>
        <p:nvSpPr>
          <p:cNvPr id="15" name="Text 12"/>
          <p:cNvSpPr txBox="1"/>
          <p:nvPr/>
        </p:nvSpPr>
        <p:spPr>
          <a:xfrm>
            <a:off x="5440680" y="1508760"/>
            <a:ext cx="3108960" cy="54864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Kaç müşteri, ne kadar tutar, hangi hesaplar?</a:t>
            </a:r>
            <a:endParaRPr lang="en-US" sz="1400" dirty="0"/>
          </a:p>
        </p:txBody>
      </p:sp>
      <p:sp>
        <p:nvSpPr>
          <p:cNvPr id="16" name="Shape 13"/>
          <p:cNvSpPr/>
          <p:nvPr/>
        </p:nvSpPr>
        <p:spPr>
          <a:xfrm>
            <a:off x="457200" y="2240280"/>
            <a:ext cx="4023360" cy="1005840"/>
          </a:xfrm>
          <a:prstGeom prst="roundRect">
            <a:avLst>
              <a:gd name="adj" fmla="val 10909"/>
            </a:avLst>
          </a:prstGeom>
          <a:solidFill>
            <a:srgbClr val="FDECEE"/>
          </a:solidFill>
          <a:ln w="12700">
            <a:solidFill>
              <a:srgbClr val="FDECEE"/>
            </a:solidFill>
            <a:prstDash val="solid"/>
          </a:ln>
        </p:spPr>
      </p:sp>
      <p:sp>
        <p:nvSpPr>
          <p:cNvPr id="17" name="Shape 14"/>
          <p:cNvSpPr/>
          <p:nvPr/>
        </p:nvSpPr>
        <p:spPr>
          <a:xfrm>
            <a:off x="594360" y="2514600"/>
            <a:ext cx="457200" cy="457200"/>
          </a:xfrm>
          <a:prstGeom prst="ellipse">
            <a:avLst/>
          </a:prstGeom>
          <a:solidFill>
            <a:srgbClr val="D81E3A"/>
          </a:solidFill>
          <a:ln w="12700">
            <a:solidFill>
              <a:srgbClr val="D81E3A"/>
            </a:solidFill>
            <a:prstDash val="solid"/>
          </a:ln>
        </p:spPr>
      </p:sp>
      <p:sp>
        <p:nvSpPr>
          <p:cNvPr id="18" name="Text 15"/>
          <p:cNvSpPr txBox="1"/>
          <p:nvPr/>
        </p:nvSpPr>
        <p:spPr>
          <a:xfrm>
            <a:off x="594360"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234440" y="2313432"/>
            <a:ext cx="3108960" cy="347472"/>
          </a:xfrm>
          <a:prstGeom prst="rect">
            <a:avLst/>
          </a:prstGeom>
          <a:noFill/>
          <a:ln/>
        </p:spPr>
        <p:txBody>
          <a:bodyPr wrap="square" lIns="0" tIns="0" rIns="0" bIns="0" rtlCol="0" anchor="ctr"/>
          <a:lstStyle/>
          <a:p>
            <a:pPr indent="0" marL="0">
              <a:buNone/>
            </a:pPr>
            <a:r>
              <a:rPr lang="en-US" sz="1700" b="1" dirty="0">
                <a:solidFill>
                  <a:srgbClr val="2E2E2E"/>
                </a:solidFill>
                <a:latin typeface="Calibri" pitchFamily="34" charset="0"/>
                <a:ea typeface="Calibri" pitchFamily="34" charset="-122"/>
                <a:cs typeface="Calibri" pitchFamily="34" charset="-120"/>
              </a:rPr>
              <a:t>Acil aksiyon</a:t>
            </a:r>
            <a:endParaRPr lang="en-US" sz="1700" dirty="0"/>
          </a:p>
        </p:txBody>
      </p:sp>
      <p:sp>
        <p:nvSpPr>
          <p:cNvPr id="20" name="Text 17"/>
          <p:cNvSpPr txBox="1"/>
          <p:nvPr/>
        </p:nvSpPr>
        <p:spPr>
          <a:xfrm>
            <a:off x="1234440" y="2651760"/>
            <a:ext cx="3108960" cy="54864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İşlemi durdur, katır hesapları dondur, müşteriyi ara</a:t>
            </a:r>
            <a:endParaRPr lang="en-US" sz="1400" dirty="0"/>
          </a:p>
        </p:txBody>
      </p:sp>
      <p:sp>
        <p:nvSpPr>
          <p:cNvPr id="21" name="Shape 18"/>
          <p:cNvSpPr/>
          <p:nvPr/>
        </p:nvSpPr>
        <p:spPr>
          <a:xfrm>
            <a:off x="4663440" y="2240280"/>
            <a:ext cx="4023360" cy="1005840"/>
          </a:xfrm>
          <a:prstGeom prst="roundRect">
            <a:avLst>
              <a:gd name="adj" fmla="val 10909"/>
            </a:avLst>
          </a:prstGeom>
          <a:solidFill>
            <a:srgbClr val="FDECEE"/>
          </a:solidFill>
          <a:ln w="12700">
            <a:solidFill>
              <a:srgbClr val="FDECEE"/>
            </a:solidFill>
            <a:prstDash val="solid"/>
          </a:ln>
        </p:spPr>
      </p:sp>
      <p:sp>
        <p:nvSpPr>
          <p:cNvPr id="22" name="Shape 19"/>
          <p:cNvSpPr/>
          <p:nvPr/>
        </p:nvSpPr>
        <p:spPr>
          <a:xfrm>
            <a:off x="4800600" y="2514600"/>
            <a:ext cx="457200" cy="457200"/>
          </a:xfrm>
          <a:prstGeom prst="ellipse">
            <a:avLst/>
          </a:prstGeom>
          <a:solidFill>
            <a:srgbClr val="D81E3A"/>
          </a:solidFill>
          <a:ln w="12700">
            <a:solidFill>
              <a:srgbClr val="D81E3A"/>
            </a:solidFill>
            <a:prstDash val="solid"/>
          </a:ln>
        </p:spPr>
      </p:sp>
      <p:sp>
        <p:nvSpPr>
          <p:cNvPr id="23" name="Text 20"/>
          <p:cNvSpPr txBox="1"/>
          <p:nvPr/>
        </p:nvSpPr>
        <p:spPr>
          <a:xfrm>
            <a:off x="4800600"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5440680" y="2313432"/>
            <a:ext cx="3108960" cy="347472"/>
          </a:xfrm>
          <a:prstGeom prst="rect">
            <a:avLst/>
          </a:prstGeom>
          <a:noFill/>
          <a:ln/>
        </p:spPr>
        <p:txBody>
          <a:bodyPr wrap="square" lIns="0" tIns="0" rIns="0" bIns="0" rtlCol="0" anchor="ctr"/>
          <a:lstStyle/>
          <a:p>
            <a:pPr indent="0" marL="0">
              <a:buNone/>
            </a:pPr>
            <a:r>
              <a:rPr lang="en-US" sz="1700" b="1" dirty="0">
                <a:solidFill>
                  <a:srgbClr val="2E2E2E"/>
                </a:solidFill>
                <a:latin typeface="Calibri" pitchFamily="34" charset="0"/>
                <a:ea typeface="Calibri" pitchFamily="34" charset="-122"/>
                <a:cs typeface="Calibri" pitchFamily="34" charset="-120"/>
              </a:rPr>
              <a:t>Kök neden</a:t>
            </a:r>
            <a:endParaRPr lang="en-US" sz="1700" dirty="0"/>
          </a:p>
        </p:txBody>
      </p:sp>
      <p:sp>
        <p:nvSpPr>
          <p:cNvPr id="25" name="Text 22"/>
          <p:cNvSpPr txBox="1"/>
          <p:nvPr/>
        </p:nvSpPr>
        <p:spPr>
          <a:xfrm>
            <a:off x="5440680" y="2651760"/>
            <a:ext cx="3108960" cy="54864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Kural neden yakalamadı? Eşik, veri veya süreç eksiği</a:t>
            </a:r>
            <a:endParaRPr lang="en-US" sz="1400" dirty="0"/>
          </a:p>
        </p:txBody>
      </p:sp>
      <p:sp>
        <p:nvSpPr>
          <p:cNvPr id="26" name="Shape 23"/>
          <p:cNvSpPr/>
          <p:nvPr/>
        </p:nvSpPr>
        <p:spPr>
          <a:xfrm>
            <a:off x="457200" y="3383280"/>
            <a:ext cx="4023360" cy="1005840"/>
          </a:xfrm>
          <a:prstGeom prst="roundRect">
            <a:avLst>
              <a:gd name="adj" fmla="val 10909"/>
            </a:avLst>
          </a:prstGeom>
          <a:solidFill>
            <a:srgbClr val="FDECEE"/>
          </a:solidFill>
          <a:ln w="12700">
            <a:solidFill>
              <a:srgbClr val="FDECEE"/>
            </a:solidFill>
            <a:prstDash val="solid"/>
          </a:ln>
        </p:spPr>
      </p:sp>
      <p:sp>
        <p:nvSpPr>
          <p:cNvPr id="27" name="Shape 24"/>
          <p:cNvSpPr/>
          <p:nvPr/>
        </p:nvSpPr>
        <p:spPr>
          <a:xfrm>
            <a:off x="594360" y="3657600"/>
            <a:ext cx="457200" cy="457200"/>
          </a:xfrm>
          <a:prstGeom prst="ellipse">
            <a:avLst/>
          </a:prstGeom>
          <a:solidFill>
            <a:srgbClr val="D81E3A"/>
          </a:solidFill>
          <a:ln w="12700">
            <a:solidFill>
              <a:srgbClr val="D81E3A"/>
            </a:solidFill>
            <a:prstDash val="solid"/>
          </a:ln>
        </p:spPr>
      </p:sp>
      <p:sp>
        <p:nvSpPr>
          <p:cNvPr id="28" name="Text 25"/>
          <p:cNvSpPr txBox="1"/>
          <p:nvPr/>
        </p:nvSpPr>
        <p:spPr>
          <a:xfrm>
            <a:off x="594360" y="3657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6"/>
          <p:cNvSpPr txBox="1"/>
          <p:nvPr/>
        </p:nvSpPr>
        <p:spPr>
          <a:xfrm>
            <a:off x="1234440" y="3456432"/>
            <a:ext cx="3108960" cy="347472"/>
          </a:xfrm>
          <a:prstGeom prst="rect">
            <a:avLst/>
          </a:prstGeom>
          <a:noFill/>
          <a:ln/>
        </p:spPr>
        <p:txBody>
          <a:bodyPr wrap="square" lIns="0" tIns="0" rIns="0" bIns="0" rtlCol="0" anchor="ctr"/>
          <a:lstStyle/>
          <a:p>
            <a:pPr indent="0" marL="0">
              <a:buNone/>
            </a:pPr>
            <a:r>
              <a:rPr lang="en-US" sz="1700" b="1" dirty="0">
                <a:solidFill>
                  <a:srgbClr val="2E2E2E"/>
                </a:solidFill>
                <a:latin typeface="Calibri" pitchFamily="34" charset="0"/>
                <a:ea typeface="Calibri" pitchFamily="34" charset="-122"/>
                <a:cs typeface="Calibri" pitchFamily="34" charset="-120"/>
              </a:rPr>
              <a:t>Postmortem</a:t>
            </a:r>
            <a:endParaRPr lang="en-US" sz="1700" dirty="0"/>
          </a:p>
        </p:txBody>
      </p:sp>
      <p:sp>
        <p:nvSpPr>
          <p:cNvPr id="30" name="Text 27"/>
          <p:cNvSpPr txBox="1"/>
          <p:nvPr/>
        </p:nvSpPr>
        <p:spPr>
          <a:xfrm>
            <a:off x="1234440" y="3794760"/>
            <a:ext cx="3108960" cy="54864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Suçlu aramadan zaman çizelgesi, MTTD ve MTTR raporu</a:t>
            </a:r>
            <a:endParaRPr lang="en-US" sz="1400" dirty="0"/>
          </a:p>
        </p:txBody>
      </p:sp>
      <p:sp>
        <p:nvSpPr>
          <p:cNvPr id="31" name="Shape 28"/>
          <p:cNvSpPr/>
          <p:nvPr/>
        </p:nvSpPr>
        <p:spPr>
          <a:xfrm>
            <a:off x="4663440" y="3383280"/>
            <a:ext cx="4023360" cy="1005840"/>
          </a:xfrm>
          <a:prstGeom prst="roundRect">
            <a:avLst>
              <a:gd name="adj" fmla="val 10909"/>
            </a:avLst>
          </a:prstGeom>
          <a:solidFill>
            <a:srgbClr val="FDECEE"/>
          </a:solidFill>
          <a:ln w="12700">
            <a:solidFill>
              <a:srgbClr val="FDECEE"/>
            </a:solidFill>
            <a:prstDash val="solid"/>
          </a:ln>
        </p:spPr>
      </p:sp>
      <p:sp>
        <p:nvSpPr>
          <p:cNvPr id="32" name="Shape 29"/>
          <p:cNvSpPr/>
          <p:nvPr/>
        </p:nvSpPr>
        <p:spPr>
          <a:xfrm>
            <a:off x="4800600" y="3657600"/>
            <a:ext cx="457200" cy="457200"/>
          </a:xfrm>
          <a:prstGeom prst="ellipse">
            <a:avLst/>
          </a:prstGeom>
          <a:solidFill>
            <a:srgbClr val="D81E3A"/>
          </a:solidFill>
          <a:ln w="12700">
            <a:solidFill>
              <a:srgbClr val="D81E3A"/>
            </a:solidFill>
            <a:prstDash val="solid"/>
          </a:ln>
        </p:spPr>
      </p:sp>
      <p:sp>
        <p:nvSpPr>
          <p:cNvPr id="33" name="Text 30"/>
          <p:cNvSpPr txBox="1"/>
          <p:nvPr/>
        </p:nvSpPr>
        <p:spPr>
          <a:xfrm>
            <a:off x="4800600" y="3657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1"/>
          <p:cNvSpPr txBox="1"/>
          <p:nvPr/>
        </p:nvSpPr>
        <p:spPr>
          <a:xfrm>
            <a:off x="5440680" y="3456432"/>
            <a:ext cx="3108960" cy="347472"/>
          </a:xfrm>
          <a:prstGeom prst="rect">
            <a:avLst/>
          </a:prstGeom>
          <a:noFill/>
          <a:ln/>
        </p:spPr>
        <p:txBody>
          <a:bodyPr wrap="square" lIns="0" tIns="0" rIns="0" bIns="0" rtlCol="0" anchor="ctr"/>
          <a:lstStyle/>
          <a:p>
            <a:pPr indent="0" marL="0">
              <a:buNone/>
            </a:pPr>
            <a:r>
              <a:rPr lang="en-US" sz="1700" b="1" dirty="0">
                <a:solidFill>
                  <a:srgbClr val="2E2E2E"/>
                </a:solidFill>
                <a:latin typeface="Calibri" pitchFamily="34" charset="0"/>
                <a:ea typeface="Calibri" pitchFamily="34" charset="-122"/>
                <a:cs typeface="Calibri" pitchFamily="34" charset="-120"/>
              </a:rPr>
              <a:t>İyileştirme</a:t>
            </a:r>
            <a:endParaRPr lang="en-US" sz="1700" dirty="0"/>
          </a:p>
        </p:txBody>
      </p:sp>
      <p:sp>
        <p:nvSpPr>
          <p:cNvPr id="35" name="Text 32"/>
          <p:cNvSpPr txBox="1"/>
          <p:nvPr/>
        </p:nvSpPr>
        <p:spPr>
          <a:xfrm>
            <a:off x="5440680" y="3794760"/>
            <a:ext cx="3108960" cy="548640"/>
          </a:xfrm>
          <a:prstGeom prst="rect">
            <a:avLst/>
          </a:prstGeom>
          <a:noFill/>
          <a:ln/>
        </p:spPr>
        <p:txBody>
          <a:bodyPr wrap="square" lIns="0" tIns="0" rIns="0" bIns="0" rtlCol="0" anchor="t"/>
          <a:lstStyle/>
          <a:p>
            <a:pPr indent="0" marL="0">
              <a:buNone/>
            </a:pPr>
            <a:r>
              <a:rPr lang="en-US" sz="1400" dirty="0">
                <a:solidFill>
                  <a:srgbClr val="2E2E2E"/>
                </a:solidFill>
                <a:latin typeface="Calibri" pitchFamily="34" charset="0"/>
                <a:ea typeface="Calibri" pitchFamily="34" charset="-122"/>
                <a:cs typeface="Calibri" pitchFamily="34" charset="-120"/>
              </a:rPr>
              <a:t>Yeni kural, metrik, runbook ve kampanya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Kök neden ve tekrar yaşanmaması</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457200" y="1097280"/>
            <a:ext cx="4023360" cy="3383280"/>
          </a:xfrm>
          <a:prstGeom prst="roundRect">
            <a:avLst>
              <a:gd name="adj" fmla="val 3243"/>
            </a:avLst>
          </a:prstGeom>
          <a:solidFill>
            <a:srgbClr val="FDECEE"/>
          </a:solidFill>
          <a:ln w="12700">
            <a:solidFill>
              <a:srgbClr val="FDECEE"/>
            </a:solidFill>
            <a:prstDash val="solid"/>
          </a:ln>
        </p:spPr>
      </p:sp>
      <p:sp>
        <p:nvSpPr>
          <p:cNvPr id="7" name="Text 4"/>
          <p:cNvSpPr txBox="1"/>
          <p:nvPr/>
        </p:nvSpPr>
        <p:spPr>
          <a:xfrm>
            <a:off x="685800" y="1234440"/>
            <a:ext cx="3566160" cy="365760"/>
          </a:xfrm>
          <a:prstGeom prst="rect">
            <a:avLst/>
          </a:prstGeom>
          <a:noFill/>
          <a:ln/>
        </p:spPr>
        <p:txBody>
          <a:bodyPr wrap="square" lIns="0" tIns="0" rIns="0" bIns="0" rtlCol="0" anchor="ctr"/>
          <a:lstStyle/>
          <a:p>
            <a:pPr indent="0" marL="0">
              <a:buNone/>
            </a:pPr>
            <a:r>
              <a:rPr lang="en-US" sz="1900" b="1" dirty="0">
                <a:solidFill>
                  <a:srgbClr val="2E2E2E"/>
                </a:solidFill>
                <a:latin typeface="Calibri" pitchFamily="34" charset="0"/>
                <a:ea typeface="Calibri" pitchFamily="34" charset="-122"/>
                <a:cs typeface="Calibri" pitchFamily="34" charset="-120"/>
              </a:rPr>
              <a:t>Neden yakalanmadı?</a:t>
            </a:r>
            <a:endParaRPr lang="en-US" sz="1900" dirty="0"/>
          </a:p>
        </p:txBody>
      </p:sp>
      <p:sp>
        <p:nvSpPr>
          <p:cNvPr id="8" name="Text 5"/>
          <p:cNvSpPr txBox="1"/>
          <p:nvPr/>
        </p:nvSpPr>
        <p:spPr>
          <a:xfrm>
            <a:off x="685800" y="1691640"/>
            <a:ext cx="356616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E2E2E"/>
                </a:solidFill>
                <a:latin typeface="Calibri" pitchFamily="34" charset="0"/>
                <a:ea typeface="Calibri" pitchFamily="34" charset="-122"/>
                <a:cs typeface="Calibri" pitchFamily="34" charset="-120"/>
              </a:rPr>
              <a:t>Yeni alıcı ve yüksek tutar için kural yoktu</a:t>
            </a:r>
            <a:endParaRPr lang="en-US" sz="1500" dirty="0"/>
          </a:p>
          <a:p>
            <a:pPr marL="342900" indent="-342900">
              <a:spcAft>
                <a:spcPts val="800"/>
              </a:spcAft>
              <a:buSzPct val="100000"/>
              <a:buChar char="•"/>
            </a:pPr>
            <a:r>
              <a:rPr lang="en-US" sz="1500" dirty="0">
                <a:solidFill>
                  <a:srgbClr val="2E2E2E"/>
                </a:solidFill>
                <a:latin typeface="Calibri" pitchFamily="34" charset="0"/>
                <a:ea typeface="Calibri" pitchFamily="34" charset="-122"/>
                <a:cs typeface="Calibri" pitchFamily="34" charset="-120"/>
              </a:rPr>
              <a:t>Çağrı ve uzaktan erişim sinyali loglanmıyordu</a:t>
            </a:r>
            <a:endParaRPr lang="en-US" sz="1500" dirty="0"/>
          </a:p>
          <a:p>
            <a:pPr marL="342900" indent="-342900">
              <a:spcAft>
                <a:spcPts val="800"/>
              </a:spcAft>
              <a:buSzPct val="100000"/>
              <a:buChar char="•"/>
            </a:pPr>
            <a:r>
              <a:rPr lang="en-US" sz="1500" dirty="0">
                <a:solidFill>
                  <a:srgbClr val="2E2E2E"/>
                </a:solidFill>
                <a:latin typeface="Calibri" pitchFamily="34" charset="0"/>
                <a:ea typeface="Calibri" pitchFamily="34" charset="-122"/>
                <a:cs typeface="Calibri" pitchFamily="34" charset="-120"/>
              </a:rPr>
              <a:t>Katır hesap girişleri izlenmiyordu</a:t>
            </a:r>
            <a:endParaRPr lang="en-US" sz="1500" dirty="0"/>
          </a:p>
          <a:p>
            <a:pPr marL="342900" indent="-342900">
              <a:spcAft>
                <a:spcPts val="800"/>
              </a:spcAft>
              <a:buSzPct val="100000"/>
              <a:buChar char="•"/>
            </a:pPr>
            <a:r>
              <a:rPr lang="en-US" sz="1500" dirty="0">
                <a:solidFill>
                  <a:srgbClr val="2E2E2E"/>
                </a:solidFill>
                <a:latin typeface="Calibri" pitchFamily="34" charset="0"/>
                <a:ea typeface="Calibri" pitchFamily="34" charset="-122"/>
                <a:cs typeface="Calibri" pitchFamily="34" charset="-120"/>
              </a:rPr>
              <a:t>Alarm yoktu, müşteri şikayetiyle öğrenildi</a:t>
            </a:r>
            <a:endParaRPr lang="en-US" sz="1500" dirty="0"/>
          </a:p>
        </p:txBody>
      </p:sp>
      <p:sp>
        <p:nvSpPr>
          <p:cNvPr id="9" name="Shape 6"/>
          <p:cNvSpPr/>
          <p:nvPr/>
        </p:nvSpPr>
        <p:spPr>
          <a:xfrm>
            <a:off x="4663440" y="1097280"/>
            <a:ext cx="4023360" cy="3383280"/>
          </a:xfrm>
          <a:prstGeom prst="roundRect">
            <a:avLst>
              <a:gd name="adj" fmla="val 3243"/>
            </a:avLst>
          </a:prstGeom>
          <a:solidFill>
            <a:srgbClr val="D81E3A"/>
          </a:solidFill>
          <a:ln w="12700">
            <a:solidFill>
              <a:srgbClr val="D81E3A"/>
            </a:solidFill>
            <a:prstDash val="solid"/>
          </a:ln>
        </p:spPr>
      </p:sp>
      <p:sp>
        <p:nvSpPr>
          <p:cNvPr id="10" name="Text 7"/>
          <p:cNvSpPr txBox="1"/>
          <p:nvPr/>
        </p:nvSpPr>
        <p:spPr>
          <a:xfrm>
            <a:off x="4892040" y="1234440"/>
            <a:ext cx="356616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Önlem aksiyonları</a:t>
            </a:r>
            <a:endParaRPr lang="en-US" sz="1900" dirty="0"/>
          </a:p>
        </p:txBody>
      </p:sp>
      <p:sp>
        <p:nvSpPr>
          <p:cNvPr id="11" name="Text 8"/>
          <p:cNvSpPr txBox="1"/>
          <p:nvPr/>
        </p:nvSpPr>
        <p:spPr>
          <a:xfrm>
            <a:off x="4892040" y="1691640"/>
            <a:ext cx="356616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Risk skoru ve HOLD kuralı (CI/CD ile yayın)</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Yeni log alanları ve metrikler</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Katır hesap alarmı ve hızlı dondurma</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Runbook, tatbikat, müşteri uyarı ekranı</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D81E3A"/>
                </a:solidFill>
                <a:latin typeface="Calibri" pitchFamily="34" charset="0"/>
                <a:ea typeface="Calibri" pitchFamily="34" charset="-122"/>
                <a:cs typeface="Calibri" pitchFamily="34" charset="-120"/>
              </a:rPr>
              <a:t>Kazanım: önce ve sonra</a:t>
            </a:r>
            <a:endParaRPr lang="en-US" sz="3200" dirty="0"/>
          </a:p>
        </p:txBody>
      </p:sp>
      <p:sp>
        <p:nvSpPr>
          <p:cNvPr id="3" name="Text 1"/>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APP Fraud Case · SRE bakışı</a:t>
            </a:r>
            <a:endParaRPr lang="en-US" sz="10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sp>
        <p:nvSpPr>
          <p:cNvPr id="6" name="Text 3"/>
          <p:cNvSpPr txBox="1"/>
          <p:nvPr/>
        </p:nvSpPr>
        <p:spPr>
          <a:xfrm>
            <a:off x="2377440" y="1051560"/>
            <a:ext cx="2926080" cy="365760"/>
          </a:xfrm>
          <a:prstGeom prst="rect">
            <a:avLst/>
          </a:prstGeom>
          <a:noFill/>
          <a:ln/>
        </p:spPr>
        <p:txBody>
          <a:bodyPr wrap="square" lIns="0" tIns="0" rIns="0" bIns="0" rtlCol="0" anchor="ctr"/>
          <a:lstStyle/>
          <a:p>
            <a:pPr algn="ctr" indent="0" marL="0">
              <a:buNone/>
            </a:pPr>
            <a:r>
              <a:rPr lang="en-US" sz="1800" b="1" dirty="0">
                <a:solidFill>
                  <a:srgbClr val="6B6B6B"/>
                </a:solidFill>
                <a:latin typeface="Calibri" pitchFamily="34" charset="0"/>
                <a:ea typeface="Calibri" pitchFamily="34" charset="-122"/>
                <a:cs typeface="Calibri" pitchFamily="34" charset="-120"/>
              </a:rPr>
              <a:t>Önce</a:t>
            </a:r>
            <a:endParaRPr lang="en-US" sz="1800" dirty="0"/>
          </a:p>
        </p:txBody>
      </p:sp>
      <p:sp>
        <p:nvSpPr>
          <p:cNvPr id="7" name="Text 4"/>
          <p:cNvSpPr txBox="1"/>
          <p:nvPr/>
        </p:nvSpPr>
        <p:spPr>
          <a:xfrm>
            <a:off x="5577840" y="1051560"/>
            <a:ext cx="3108960" cy="365760"/>
          </a:xfrm>
          <a:prstGeom prst="rect">
            <a:avLst/>
          </a:prstGeom>
          <a:noFill/>
          <a:ln/>
        </p:spPr>
        <p:txBody>
          <a:bodyPr wrap="square" lIns="0" tIns="0" rIns="0" bIns="0" rtlCol="0" anchor="ctr"/>
          <a:lstStyle/>
          <a:p>
            <a:pPr algn="ctr" indent="0" marL="0">
              <a:buNone/>
            </a:pPr>
            <a:r>
              <a:rPr lang="en-US" sz="1800" b="1" dirty="0">
                <a:solidFill>
                  <a:srgbClr val="D81E3A"/>
                </a:solidFill>
                <a:latin typeface="Calibri" pitchFamily="34" charset="0"/>
                <a:ea typeface="Calibri" pitchFamily="34" charset="-122"/>
                <a:cs typeface="Calibri" pitchFamily="34" charset="-120"/>
              </a:rPr>
              <a:t>Sonra</a:t>
            </a:r>
            <a:endParaRPr lang="en-US" sz="1800" dirty="0"/>
          </a:p>
        </p:txBody>
      </p:sp>
      <p:sp>
        <p:nvSpPr>
          <p:cNvPr id="8" name="Text 5"/>
          <p:cNvSpPr txBox="1"/>
          <p:nvPr/>
        </p:nvSpPr>
        <p:spPr>
          <a:xfrm>
            <a:off x="457200" y="1508760"/>
            <a:ext cx="1828800" cy="640080"/>
          </a:xfrm>
          <a:prstGeom prst="rect">
            <a:avLst/>
          </a:prstGeom>
          <a:noFill/>
          <a:ln/>
        </p:spPr>
        <p:txBody>
          <a:bodyPr wrap="square" lIns="0" tIns="0" rIns="0" bIns="0" rtlCol="0" anchor="ctr"/>
          <a:lstStyle/>
          <a:p>
            <a:pPr indent="0" marL="0">
              <a:buNone/>
            </a:pPr>
            <a:r>
              <a:rPr lang="en-US" sz="1600" b="1" dirty="0">
                <a:solidFill>
                  <a:srgbClr val="2E2E2E"/>
                </a:solidFill>
                <a:latin typeface="Calibri" pitchFamily="34" charset="0"/>
                <a:ea typeface="Calibri" pitchFamily="34" charset="-122"/>
                <a:cs typeface="Calibri" pitchFamily="34" charset="-120"/>
              </a:rPr>
              <a:t>Tespit</a:t>
            </a:r>
            <a:endParaRPr lang="en-US" sz="1600" dirty="0"/>
          </a:p>
        </p:txBody>
      </p:sp>
      <p:sp>
        <p:nvSpPr>
          <p:cNvPr id="9" name="Shape 6"/>
          <p:cNvSpPr/>
          <p:nvPr/>
        </p:nvSpPr>
        <p:spPr>
          <a:xfrm>
            <a:off x="2377440" y="1508760"/>
            <a:ext cx="2926080" cy="640080"/>
          </a:xfrm>
          <a:prstGeom prst="roundRect">
            <a:avLst>
              <a:gd name="adj" fmla="val 17143"/>
            </a:avLst>
          </a:prstGeom>
          <a:solidFill>
            <a:srgbClr val="F1F1F1"/>
          </a:solidFill>
          <a:ln w="12700">
            <a:solidFill>
              <a:srgbClr val="F1F1F1"/>
            </a:solidFill>
            <a:prstDash val="solid"/>
          </a:ln>
        </p:spPr>
      </p:sp>
      <p:sp>
        <p:nvSpPr>
          <p:cNvPr id="10" name="Text 7"/>
          <p:cNvSpPr txBox="1"/>
          <p:nvPr/>
        </p:nvSpPr>
        <p:spPr>
          <a:xfrm>
            <a:off x="2468880" y="1508760"/>
            <a:ext cx="2743200" cy="640080"/>
          </a:xfrm>
          <a:prstGeom prst="rect">
            <a:avLst/>
          </a:prstGeom>
          <a:noFill/>
          <a:ln/>
        </p:spPr>
        <p:txBody>
          <a:bodyPr wrap="square" lIns="0" tIns="0" rIns="0" bIns="0" rtlCol="0" anchor="ctr"/>
          <a:lstStyle/>
          <a:p>
            <a:pPr algn="ctr" indent="0" marL="0">
              <a:buNone/>
            </a:pPr>
            <a:r>
              <a:rPr lang="en-US" sz="1400" dirty="0">
                <a:solidFill>
                  <a:srgbClr val="2E2E2E"/>
                </a:solidFill>
                <a:latin typeface="Calibri" pitchFamily="34" charset="0"/>
                <a:ea typeface="Calibri" pitchFamily="34" charset="-122"/>
                <a:cs typeface="Calibri" pitchFamily="34" charset="-120"/>
              </a:rPr>
              <a:t>Müşteri şikayetiyle, saatler sonra</a:t>
            </a:r>
            <a:endParaRPr lang="en-US" sz="1400" dirty="0"/>
          </a:p>
        </p:txBody>
      </p:sp>
      <p:sp>
        <p:nvSpPr>
          <p:cNvPr id="11" name="Shape 8"/>
          <p:cNvSpPr/>
          <p:nvPr/>
        </p:nvSpPr>
        <p:spPr>
          <a:xfrm>
            <a:off x="5577840" y="1508760"/>
            <a:ext cx="3108960" cy="640080"/>
          </a:xfrm>
          <a:prstGeom prst="roundRect">
            <a:avLst>
              <a:gd name="adj" fmla="val 17143"/>
            </a:avLst>
          </a:prstGeom>
          <a:solidFill>
            <a:srgbClr val="FDECEE"/>
          </a:solidFill>
          <a:ln w="12700">
            <a:solidFill>
              <a:srgbClr val="FDECEE"/>
            </a:solidFill>
            <a:prstDash val="solid"/>
          </a:ln>
        </p:spPr>
      </p:sp>
      <p:sp>
        <p:nvSpPr>
          <p:cNvPr id="12" name="Text 9"/>
          <p:cNvSpPr txBox="1"/>
          <p:nvPr/>
        </p:nvSpPr>
        <p:spPr>
          <a:xfrm>
            <a:off x="5669280" y="1508760"/>
            <a:ext cx="2926080" cy="640080"/>
          </a:xfrm>
          <a:prstGeom prst="rect">
            <a:avLst/>
          </a:prstGeom>
          <a:noFill/>
          <a:ln/>
        </p:spPr>
        <p:txBody>
          <a:bodyPr wrap="square" lIns="0" tIns="0" rIns="0" bIns="0" rtlCol="0" anchor="ctr"/>
          <a:lstStyle/>
          <a:p>
            <a:pPr algn="ctr" indent="0" marL="0">
              <a:buNone/>
            </a:pPr>
            <a:r>
              <a:rPr lang="en-US" sz="1400" b="1" dirty="0">
                <a:solidFill>
                  <a:srgbClr val="2E2E2E"/>
                </a:solidFill>
                <a:latin typeface="Calibri" pitchFamily="34" charset="0"/>
                <a:ea typeface="Calibri" pitchFamily="34" charset="-122"/>
                <a:cs typeface="Calibri" pitchFamily="34" charset="-120"/>
              </a:rPr>
              <a:t>İşlem anında, otomatik alarm</a:t>
            </a:r>
            <a:endParaRPr lang="en-US" sz="1400" dirty="0"/>
          </a:p>
        </p:txBody>
      </p:sp>
      <p:sp>
        <p:nvSpPr>
          <p:cNvPr id="13" name="Text 10"/>
          <p:cNvSpPr txBox="1"/>
          <p:nvPr/>
        </p:nvSpPr>
        <p:spPr>
          <a:xfrm>
            <a:off x="457200" y="2240280"/>
            <a:ext cx="1828800" cy="640080"/>
          </a:xfrm>
          <a:prstGeom prst="rect">
            <a:avLst/>
          </a:prstGeom>
          <a:noFill/>
          <a:ln/>
        </p:spPr>
        <p:txBody>
          <a:bodyPr wrap="square" lIns="0" tIns="0" rIns="0" bIns="0" rtlCol="0" anchor="ctr"/>
          <a:lstStyle/>
          <a:p>
            <a:pPr indent="0" marL="0">
              <a:buNone/>
            </a:pPr>
            <a:r>
              <a:rPr lang="en-US" sz="1600" b="1" dirty="0">
                <a:solidFill>
                  <a:srgbClr val="2E2E2E"/>
                </a:solidFill>
                <a:latin typeface="Calibri" pitchFamily="34" charset="0"/>
                <a:ea typeface="Calibri" pitchFamily="34" charset="-122"/>
                <a:cs typeface="Calibri" pitchFamily="34" charset="-120"/>
              </a:rPr>
              <a:t>Müdahale</a:t>
            </a:r>
            <a:endParaRPr lang="en-US" sz="1600" dirty="0"/>
          </a:p>
        </p:txBody>
      </p:sp>
      <p:sp>
        <p:nvSpPr>
          <p:cNvPr id="14" name="Shape 11"/>
          <p:cNvSpPr/>
          <p:nvPr/>
        </p:nvSpPr>
        <p:spPr>
          <a:xfrm>
            <a:off x="2377440" y="2240280"/>
            <a:ext cx="2926080" cy="640080"/>
          </a:xfrm>
          <a:prstGeom prst="roundRect">
            <a:avLst>
              <a:gd name="adj" fmla="val 17143"/>
            </a:avLst>
          </a:prstGeom>
          <a:solidFill>
            <a:srgbClr val="F1F1F1"/>
          </a:solidFill>
          <a:ln w="12700">
            <a:solidFill>
              <a:srgbClr val="F1F1F1"/>
            </a:solidFill>
            <a:prstDash val="solid"/>
          </a:ln>
        </p:spPr>
      </p:sp>
      <p:sp>
        <p:nvSpPr>
          <p:cNvPr id="15" name="Text 12"/>
          <p:cNvSpPr txBox="1"/>
          <p:nvPr/>
        </p:nvSpPr>
        <p:spPr>
          <a:xfrm>
            <a:off x="2468880" y="2240280"/>
            <a:ext cx="2743200" cy="640080"/>
          </a:xfrm>
          <a:prstGeom prst="rect">
            <a:avLst/>
          </a:prstGeom>
          <a:noFill/>
          <a:ln/>
        </p:spPr>
        <p:txBody>
          <a:bodyPr wrap="square" lIns="0" tIns="0" rIns="0" bIns="0" rtlCol="0" anchor="ctr"/>
          <a:lstStyle/>
          <a:p>
            <a:pPr algn="ctr" indent="0" marL="0">
              <a:buNone/>
            </a:pPr>
            <a:r>
              <a:rPr lang="en-US" sz="1400" dirty="0">
                <a:solidFill>
                  <a:srgbClr val="2E2E2E"/>
                </a:solidFill>
                <a:latin typeface="Calibri" pitchFamily="34" charset="0"/>
                <a:ea typeface="Calibri" pitchFamily="34" charset="-122"/>
                <a:cs typeface="Calibri" pitchFamily="34" charset="-120"/>
              </a:rPr>
              <a:t>Manuel ve geç</a:t>
            </a:r>
            <a:endParaRPr lang="en-US" sz="1400" dirty="0"/>
          </a:p>
        </p:txBody>
      </p:sp>
      <p:sp>
        <p:nvSpPr>
          <p:cNvPr id="16" name="Shape 13"/>
          <p:cNvSpPr/>
          <p:nvPr/>
        </p:nvSpPr>
        <p:spPr>
          <a:xfrm>
            <a:off x="5577840" y="2240280"/>
            <a:ext cx="3108960" cy="640080"/>
          </a:xfrm>
          <a:prstGeom prst="roundRect">
            <a:avLst>
              <a:gd name="adj" fmla="val 17143"/>
            </a:avLst>
          </a:prstGeom>
          <a:solidFill>
            <a:srgbClr val="FDECEE"/>
          </a:solidFill>
          <a:ln w="12700">
            <a:solidFill>
              <a:srgbClr val="FDECEE"/>
            </a:solidFill>
            <a:prstDash val="solid"/>
          </a:ln>
        </p:spPr>
      </p:sp>
      <p:sp>
        <p:nvSpPr>
          <p:cNvPr id="17" name="Text 14"/>
          <p:cNvSpPr txBox="1"/>
          <p:nvPr/>
        </p:nvSpPr>
        <p:spPr>
          <a:xfrm>
            <a:off x="5669280" y="2240280"/>
            <a:ext cx="2926080" cy="640080"/>
          </a:xfrm>
          <a:prstGeom prst="rect">
            <a:avLst/>
          </a:prstGeom>
          <a:noFill/>
          <a:ln/>
        </p:spPr>
        <p:txBody>
          <a:bodyPr wrap="square" lIns="0" tIns="0" rIns="0" bIns="0" rtlCol="0" anchor="ctr"/>
          <a:lstStyle/>
          <a:p>
            <a:pPr algn="ctr" indent="0" marL="0">
              <a:buNone/>
            </a:pPr>
            <a:r>
              <a:rPr lang="en-US" sz="1400" b="1" dirty="0">
                <a:solidFill>
                  <a:srgbClr val="2E2E2E"/>
                </a:solidFill>
                <a:latin typeface="Calibri" pitchFamily="34" charset="0"/>
                <a:ea typeface="Calibri" pitchFamily="34" charset="-122"/>
                <a:cs typeface="Calibri" pitchFamily="34" charset="-120"/>
              </a:rPr>
              <a:t>Otomatik HOLD, katır hesap dondurma</a:t>
            </a:r>
            <a:endParaRPr lang="en-US" sz="1400" dirty="0"/>
          </a:p>
        </p:txBody>
      </p:sp>
      <p:sp>
        <p:nvSpPr>
          <p:cNvPr id="18" name="Text 15"/>
          <p:cNvSpPr txBox="1"/>
          <p:nvPr/>
        </p:nvSpPr>
        <p:spPr>
          <a:xfrm>
            <a:off x="457200" y="2971800"/>
            <a:ext cx="1828800" cy="640080"/>
          </a:xfrm>
          <a:prstGeom prst="rect">
            <a:avLst/>
          </a:prstGeom>
          <a:noFill/>
          <a:ln/>
        </p:spPr>
        <p:txBody>
          <a:bodyPr wrap="square" lIns="0" tIns="0" rIns="0" bIns="0" rtlCol="0" anchor="ctr"/>
          <a:lstStyle/>
          <a:p>
            <a:pPr indent="0" marL="0">
              <a:buNone/>
            </a:pPr>
            <a:r>
              <a:rPr lang="en-US" sz="1600" b="1" dirty="0">
                <a:solidFill>
                  <a:srgbClr val="2E2E2E"/>
                </a:solidFill>
                <a:latin typeface="Calibri" pitchFamily="34" charset="0"/>
                <a:ea typeface="Calibri" pitchFamily="34" charset="-122"/>
                <a:cs typeface="Calibri" pitchFamily="34" charset="-120"/>
              </a:rPr>
              <a:t>Korunan tutar</a:t>
            </a:r>
            <a:endParaRPr lang="en-US" sz="1600" dirty="0"/>
          </a:p>
        </p:txBody>
      </p:sp>
      <p:sp>
        <p:nvSpPr>
          <p:cNvPr id="19" name="Shape 16"/>
          <p:cNvSpPr/>
          <p:nvPr/>
        </p:nvSpPr>
        <p:spPr>
          <a:xfrm>
            <a:off x="2377440" y="2971800"/>
            <a:ext cx="2926080" cy="640080"/>
          </a:xfrm>
          <a:prstGeom prst="roundRect">
            <a:avLst>
              <a:gd name="adj" fmla="val 17143"/>
            </a:avLst>
          </a:prstGeom>
          <a:solidFill>
            <a:srgbClr val="F1F1F1"/>
          </a:solidFill>
          <a:ln w="12700">
            <a:solidFill>
              <a:srgbClr val="F1F1F1"/>
            </a:solidFill>
            <a:prstDash val="solid"/>
          </a:ln>
        </p:spPr>
      </p:sp>
      <p:sp>
        <p:nvSpPr>
          <p:cNvPr id="20" name="Text 17"/>
          <p:cNvSpPr txBox="1"/>
          <p:nvPr/>
        </p:nvSpPr>
        <p:spPr>
          <a:xfrm>
            <a:off x="2468880" y="2971800"/>
            <a:ext cx="2743200" cy="640080"/>
          </a:xfrm>
          <a:prstGeom prst="rect">
            <a:avLst/>
          </a:prstGeom>
          <a:noFill/>
          <a:ln/>
        </p:spPr>
        <p:txBody>
          <a:bodyPr wrap="square" lIns="0" tIns="0" rIns="0" bIns="0" rtlCol="0" anchor="ctr"/>
          <a:lstStyle/>
          <a:p>
            <a:pPr algn="ctr" indent="0" marL="0">
              <a:buNone/>
            </a:pPr>
            <a:r>
              <a:rPr lang="en-US" sz="1400" dirty="0">
                <a:solidFill>
                  <a:srgbClr val="2E2E2E"/>
                </a:solidFill>
                <a:latin typeface="Calibri" pitchFamily="34" charset="0"/>
                <a:ea typeface="Calibri" pitchFamily="34" charset="-122"/>
                <a:cs typeface="Calibri" pitchFamily="34" charset="-120"/>
              </a:rPr>
              <a:t>Çoğunlukla geri alınamaz</a:t>
            </a:r>
            <a:endParaRPr lang="en-US" sz="1400" dirty="0"/>
          </a:p>
        </p:txBody>
      </p:sp>
      <p:sp>
        <p:nvSpPr>
          <p:cNvPr id="21" name="Shape 18"/>
          <p:cNvSpPr/>
          <p:nvPr/>
        </p:nvSpPr>
        <p:spPr>
          <a:xfrm>
            <a:off x="5577840" y="2971800"/>
            <a:ext cx="3108960" cy="640080"/>
          </a:xfrm>
          <a:prstGeom prst="roundRect">
            <a:avLst>
              <a:gd name="adj" fmla="val 17143"/>
            </a:avLst>
          </a:prstGeom>
          <a:solidFill>
            <a:srgbClr val="FDECEE"/>
          </a:solidFill>
          <a:ln w="12700">
            <a:solidFill>
              <a:srgbClr val="FDECEE"/>
            </a:solidFill>
            <a:prstDash val="solid"/>
          </a:ln>
        </p:spPr>
      </p:sp>
      <p:sp>
        <p:nvSpPr>
          <p:cNvPr id="22" name="Text 19"/>
          <p:cNvSpPr txBox="1"/>
          <p:nvPr/>
        </p:nvSpPr>
        <p:spPr>
          <a:xfrm>
            <a:off x="5669280" y="2971800"/>
            <a:ext cx="2926080" cy="640080"/>
          </a:xfrm>
          <a:prstGeom prst="rect">
            <a:avLst/>
          </a:prstGeom>
          <a:noFill/>
          <a:ln/>
        </p:spPr>
        <p:txBody>
          <a:bodyPr wrap="square" lIns="0" tIns="0" rIns="0" bIns="0" rtlCol="0" anchor="ctr"/>
          <a:lstStyle/>
          <a:p>
            <a:pPr algn="ctr" indent="0" marL="0">
              <a:buNone/>
            </a:pPr>
            <a:r>
              <a:rPr lang="en-US" sz="1400" b="1" dirty="0">
                <a:solidFill>
                  <a:srgbClr val="2E2E2E"/>
                </a:solidFill>
                <a:latin typeface="Calibri" pitchFamily="34" charset="0"/>
                <a:ea typeface="Calibri" pitchFamily="34" charset="-122"/>
                <a:cs typeface="Calibri" pitchFamily="34" charset="-120"/>
              </a:rPr>
              <a:t>Demoda 8/8 işlem durduruldu</a:t>
            </a:r>
            <a:endParaRPr lang="en-US" sz="1400" dirty="0"/>
          </a:p>
        </p:txBody>
      </p:sp>
      <p:sp>
        <p:nvSpPr>
          <p:cNvPr id="23" name="Text 20"/>
          <p:cNvSpPr txBox="1"/>
          <p:nvPr/>
        </p:nvSpPr>
        <p:spPr>
          <a:xfrm>
            <a:off x="457200" y="3703320"/>
            <a:ext cx="1828800" cy="640080"/>
          </a:xfrm>
          <a:prstGeom prst="rect">
            <a:avLst/>
          </a:prstGeom>
          <a:noFill/>
          <a:ln/>
        </p:spPr>
        <p:txBody>
          <a:bodyPr wrap="square" lIns="0" tIns="0" rIns="0" bIns="0" rtlCol="0" anchor="ctr"/>
          <a:lstStyle/>
          <a:p>
            <a:pPr indent="0" marL="0">
              <a:buNone/>
            </a:pPr>
            <a:r>
              <a:rPr lang="en-US" sz="1600" b="1" dirty="0">
                <a:solidFill>
                  <a:srgbClr val="2E2E2E"/>
                </a:solidFill>
                <a:latin typeface="Calibri" pitchFamily="34" charset="0"/>
                <a:ea typeface="Calibri" pitchFamily="34" charset="-122"/>
                <a:cs typeface="Calibri" pitchFamily="34" charset="-120"/>
              </a:rPr>
              <a:t>Öğrenme</a:t>
            </a:r>
            <a:endParaRPr lang="en-US" sz="1600" dirty="0"/>
          </a:p>
        </p:txBody>
      </p:sp>
      <p:sp>
        <p:nvSpPr>
          <p:cNvPr id="24" name="Shape 21"/>
          <p:cNvSpPr/>
          <p:nvPr/>
        </p:nvSpPr>
        <p:spPr>
          <a:xfrm>
            <a:off x="2377440" y="3703320"/>
            <a:ext cx="2926080" cy="640080"/>
          </a:xfrm>
          <a:prstGeom prst="roundRect">
            <a:avLst>
              <a:gd name="adj" fmla="val 17143"/>
            </a:avLst>
          </a:prstGeom>
          <a:solidFill>
            <a:srgbClr val="F1F1F1"/>
          </a:solidFill>
          <a:ln w="12700">
            <a:solidFill>
              <a:srgbClr val="F1F1F1"/>
            </a:solidFill>
            <a:prstDash val="solid"/>
          </a:ln>
        </p:spPr>
      </p:sp>
      <p:sp>
        <p:nvSpPr>
          <p:cNvPr id="25" name="Text 22"/>
          <p:cNvSpPr txBox="1"/>
          <p:nvPr/>
        </p:nvSpPr>
        <p:spPr>
          <a:xfrm>
            <a:off x="2468880" y="3703320"/>
            <a:ext cx="2743200" cy="640080"/>
          </a:xfrm>
          <a:prstGeom prst="rect">
            <a:avLst/>
          </a:prstGeom>
          <a:noFill/>
          <a:ln/>
        </p:spPr>
        <p:txBody>
          <a:bodyPr wrap="square" lIns="0" tIns="0" rIns="0" bIns="0" rtlCol="0" anchor="ctr"/>
          <a:lstStyle/>
          <a:p>
            <a:pPr algn="ctr" indent="0" marL="0">
              <a:buNone/>
            </a:pPr>
            <a:r>
              <a:rPr lang="en-US" sz="1400" dirty="0">
                <a:solidFill>
                  <a:srgbClr val="2E2E2E"/>
                </a:solidFill>
                <a:latin typeface="Calibri" pitchFamily="34" charset="0"/>
                <a:ea typeface="Calibri" pitchFamily="34" charset="-122"/>
                <a:cs typeface="Calibri" pitchFamily="34" charset="-120"/>
              </a:rPr>
              <a:t>Kayıt yok</a:t>
            </a:r>
            <a:endParaRPr lang="en-US" sz="1400" dirty="0"/>
          </a:p>
        </p:txBody>
      </p:sp>
      <p:sp>
        <p:nvSpPr>
          <p:cNvPr id="26" name="Shape 23"/>
          <p:cNvSpPr/>
          <p:nvPr/>
        </p:nvSpPr>
        <p:spPr>
          <a:xfrm>
            <a:off x="5577840" y="3703320"/>
            <a:ext cx="3108960" cy="640080"/>
          </a:xfrm>
          <a:prstGeom prst="roundRect">
            <a:avLst>
              <a:gd name="adj" fmla="val 17143"/>
            </a:avLst>
          </a:prstGeom>
          <a:solidFill>
            <a:srgbClr val="FDECEE"/>
          </a:solidFill>
          <a:ln w="12700">
            <a:solidFill>
              <a:srgbClr val="FDECEE"/>
            </a:solidFill>
            <a:prstDash val="solid"/>
          </a:ln>
        </p:spPr>
      </p:sp>
      <p:sp>
        <p:nvSpPr>
          <p:cNvPr id="27" name="Text 24"/>
          <p:cNvSpPr txBox="1"/>
          <p:nvPr/>
        </p:nvSpPr>
        <p:spPr>
          <a:xfrm>
            <a:off x="5669280" y="3703320"/>
            <a:ext cx="2926080" cy="640080"/>
          </a:xfrm>
          <a:prstGeom prst="rect">
            <a:avLst/>
          </a:prstGeom>
          <a:noFill/>
          <a:ln/>
        </p:spPr>
        <p:txBody>
          <a:bodyPr wrap="square" lIns="0" tIns="0" rIns="0" bIns="0" rtlCol="0" anchor="ctr"/>
          <a:lstStyle/>
          <a:p>
            <a:pPr algn="ctr" indent="0" marL="0">
              <a:buNone/>
            </a:pPr>
            <a:r>
              <a:rPr lang="en-US" sz="1400" b="1" dirty="0">
                <a:solidFill>
                  <a:srgbClr val="2E2E2E"/>
                </a:solidFill>
                <a:latin typeface="Calibri" pitchFamily="34" charset="0"/>
                <a:ea typeface="Calibri" pitchFamily="34" charset="-122"/>
                <a:cs typeface="Calibri" pitchFamily="34" charset="-120"/>
              </a:rPr>
              <a:t>Postmortem ve yeni kural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B0A1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Özet</a:t>
            </a:r>
            <a:endParaRPr lang="en-US" sz="4000" dirty="0"/>
          </a:p>
        </p:txBody>
      </p:sp>
      <p:sp>
        <p:nvSpPr>
          <p:cNvPr id="3" name="Shape 1"/>
          <p:cNvSpPr/>
          <p:nvPr/>
        </p:nvSpPr>
        <p:spPr>
          <a:xfrm>
            <a:off x="548640" y="1737360"/>
            <a:ext cx="502920" cy="502920"/>
          </a:xfrm>
          <a:prstGeom prst="ellipse">
            <a:avLst/>
          </a:prstGeom>
          <a:solidFill>
            <a:srgbClr val="D81E3A"/>
          </a:solidFill>
          <a:ln w="12700">
            <a:solidFill>
              <a:srgbClr val="D81E3A"/>
            </a:solidFill>
            <a:prstDash val="solid"/>
          </a:ln>
        </p:spPr>
      </p:sp>
      <p:sp>
        <p:nvSpPr>
          <p:cNvPr id="4" name="Text 2"/>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280160" y="1645920"/>
            <a:ext cx="2011680" cy="685800"/>
          </a:xfrm>
          <a:prstGeom prst="rect">
            <a:avLst/>
          </a:prstGeom>
          <a:noFill/>
          <a:ln/>
        </p:spPr>
        <p:txBody>
          <a:bodyPr wrap="square" lIns="0" tIns="0" rIns="0" bIns="0" rtlCol="0" anchor="ctr"/>
          <a:lstStyle/>
          <a:p>
            <a:pPr indent="0" marL="0">
              <a:buNone/>
            </a:pPr>
            <a:r>
              <a:rPr lang="en-US" sz="2000" b="1" dirty="0">
                <a:solidFill>
                  <a:srgbClr val="F4B6BF"/>
                </a:solidFill>
                <a:latin typeface="Calibri" pitchFamily="34" charset="0"/>
                <a:ea typeface="Calibri" pitchFamily="34" charset="-122"/>
                <a:cs typeface="Calibri" pitchFamily="34" charset="-120"/>
              </a:rPr>
              <a:t>Vaka</a:t>
            </a:r>
            <a:endParaRPr lang="en-US" sz="2000" dirty="0"/>
          </a:p>
        </p:txBody>
      </p:sp>
      <p:sp>
        <p:nvSpPr>
          <p:cNvPr id="6" name="Text 4"/>
          <p:cNvSpPr txBox="1"/>
          <p:nvPr/>
        </p:nvSpPr>
        <p:spPr>
          <a:xfrm>
            <a:off x="3291840" y="1645920"/>
            <a:ext cx="5394960" cy="6858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Sosyal mühendislikle para gönderme (APP fraud)</a:t>
            </a:r>
            <a:endParaRPr lang="en-US" sz="1600" dirty="0"/>
          </a:p>
        </p:txBody>
      </p:sp>
      <p:sp>
        <p:nvSpPr>
          <p:cNvPr id="7" name="Shape 5"/>
          <p:cNvSpPr/>
          <p:nvPr/>
        </p:nvSpPr>
        <p:spPr>
          <a:xfrm>
            <a:off x="548640" y="2606040"/>
            <a:ext cx="502920" cy="502920"/>
          </a:xfrm>
          <a:prstGeom prst="ellipse">
            <a:avLst/>
          </a:prstGeom>
          <a:solidFill>
            <a:srgbClr val="D81E3A"/>
          </a:solidFill>
          <a:ln w="12700">
            <a:solidFill>
              <a:srgbClr val="D81E3A"/>
            </a:solidFill>
            <a:prstDash val="solid"/>
          </a:ln>
        </p:spPr>
      </p:sp>
      <p:sp>
        <p:nvSpPr>
          <p:cNvPr id="8" name="Text 6"/>
          <p:cNvSpPr txBox="1"/>
          <p:nvPr/>
        </p:nvSpPr>
        <p:spPr>
          <a:xfrm>
            <a:off x="548640" y="2606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280160" y="2514600"/>
            <a:ext cx="2011680" cy="685800"/>
          </a:xfrm>
          <a:prstGeom prst="rect">
            <a:avLst/>
          </a:prstGeom>
          <a:noFill/>
          <a:ln/>
        </p:spPr>
        <p:txBody>
          <a:bodyPr wrap="square" lIns="0" tIns="0" rIns="0" bIns="0" rtlCol="0" anchor="ctr"/>
          <a:lstStyle/>
          <a:p>
            <a:pPr indent="0" marL="0">
              <a:buNone/>
            </a:pPr>
            <a:r>
              <a:rPr lang="en-US" sz="2000" b="1" dirty="0">
                <a:solidFill>
                  <a:srgbClr val="F4B6BF"/>
                </a:solidFill>
                <a:latin typeface="Calibri" pitchFamily="34" charset="0"/>
                <a:ea typeface="Calibri" pitchFamily="34" charset="-122"/>
                <a:cs typeface="Calibri" pitchFamily="34" charset="-120"/>
              </a:rPr>
              <a:t>Engelleme</a:t>
            </a:r>
            <a:endParaRPr lang="en-US" sz="2000" dirty="0"/>
          </a:p>
        </p:txBody>
      </p:sp>
      <p:sp>
        <p:nvSpPr>
          <p:cNvPr id="10" name="Text 8"/>
          <p:cNvSpPr txBox="1"/>
          <p:nvPr/>
        </p:nvSpPr>
        <p:spPr>
          <a:xfrm>
            <a:off x="3291840" y="2514600"/>
            <a:ext cx="5394960" cy="6858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Log, metrik, alarm, otomatik HOLD ve CI/CD ile kural yönetimi</a:t>
            </a:r>
            <a:endParaRPr lang="en-US" sz="1600" dirty="0"/>
          </a:p>
        </p:txBody>
      </p:sp>
      <p:sp>
        <p:nvSpPr>
          <p:cNvPr id="11" name="Shape 9"/>
          <p:cNvSpPr/>
          <p:nvPr/>
        </p:nvSpPr>
        <p:spPr>
          <a:xfrm>
            <a:off x="548640" y="3474720"/>
            <a:ext cx="502920" cy="502920"/>
          </a:xfrm>
          <a:prstGeom prst="ellipse">
            <a:avLst/>
          </a:prstGeom>
          <a:solidFill>
            <a:srgbClr val="D81E3A"/>
          </a:solidFill>
          <a:ln w="12700">
            <a:solidFill>
              <a:srgbClr val="D81E3A"/>
            </a:solidFill>
            <a:prstDash val="solid"/>
          </a:ln>
        </p:spPr>
      </p:sp>
      <p:sp>
        <p:nvSpPr>
          <p:cNvPr id="12" name="Text 10"/>
          <p:cNvSpPr txBox="1"/>
          <p:nvPr/>
        </p:nvSpPr>
        <p:spPr>
          <a:xfrm>
            <a:off x="548640" y="3474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280160" y="3383280"/>
            <a:ext cx="2011680" cy="685800"/>
          </a:xfrm>
          <a:prstGeom prst="rect">
            <a:avLst/>
          </a:prstGeom>
          <a:noFill/>
          <a:ln/>
        </p:spPr>
        <p:txBody>
          <a:bodyPr wrap="square" lIns="0" tIns="0" rIns="0" bIns="0" rtlCol="0" anchor="ctr"/>
          <a:lstStyle/>
          <a:p>
            <a:pPr indent="0" marL="0">
              <a:buNone/>
            </a:pPr>
            <a:r>
              <a:rPr lang="en-US" sz="2000" b="1" dirty="0">
                <a:solidFill>
                  <a:srgbClr val="F4B6BF"/>
                </a:solidFill>
                <a:latin typeface="Calibri" pitchFamily="34" charset="0"/>
                <a:ea typeface="Calibri" pitchFamily="34" charset="-122"/>
                <a:cs typeface="Calibri" pitchFamily="34" charset="-120"/>
              </a:rPr>
              <a:t>Vaka sonrası</a:t>
            </a:r>
            <a:endParaRPr lang="en-US" sz="2000" dirty="0"/>
          </a:p>
        </p:txBody>
      </p:sp>
      <p:sp>
        <p:nvSpPr>
          <p:cNvPr id="14" name="Text 12"/>
          <p:cNvSpPr txBox="1"/>
          <p:nvPr/>
        </p:nvSpPr>
        <p:spPr>
          <a:xfrm>
            <a:off x="3291840" y="3383280"/>
            <a:ext cx="5394960" cy="6858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Etki analizi, kök neden, blameless postmortem, iyileştirme</a:t>
            </a:r>
            <a:endParaRPr lang="en-US" sz="1600" dirty="0"/>
          </a:p>
        </p:txBody>
      </p:sp>
      <p:sp>
        <p:nvSpPr>
          <p:cNvPr id="15" name="Text 13"/>
          <p:cNvSpPr txBox="1"/>
          <p:nvPr/>
        </p:nvSpPr>
        <p:spPr>
          <a:xfrm>
            <a:off x="548640" y="4297680"/>
            <a:ext cx="8046720" cy="457200"/>
          </a:xfrm>
          <a:prstGeom prst="rect">
            <a:avLst/>
          </a:prstGeom>
          <a:noFill/>
          <a:ln/>
        </p:spPr>
        <p:txBody>
          <a:bodyPr wrap="square" lIns="0" tIns="0" rIns="0" bIns="0" rtlCol="0" anchor="ctr"/>
          <a:lstStyle/>
          <a:p>
            <a:pPr indent="0" marL="0">
              <a:buNone/>
            </a:pPr>
            <a:r>
              <a:rPr lang="en-US" sz="2000" dirty="0">
                <a:solidFill>
                  <a:srgbClr val="CFA3AA"/>
                </a:solidFill>
                <a:latin typeface="Calibri" pitchFamily="34" charset="0"/>
                <a:ea typeface="Calibri" pitchFamily="34" charset="-122"/>
                <a:cs typeface="Calibri" pitchFamily="34" charset="-120"/>
              </a:rPr>
              <a:t>Sorular?</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 Fraud Case Çalışması</dc:title>
  <dc:subject>PptxGenJS Presentation</dc:subject>
  <dc:creator>PptxGenJS</dc:creator>
  <cp:lastModifiedBy>PptxGenJS</cp:lastModifiedBy>
  <cp:revision>1</cp:revision>
  <dcterms:created xsi:type="dcterms:W3CDTF">2026-10-17T08:55:44Z</dcterms:created>
  <dcterms:modified xsi:type="dcterms:W3CDTF">2026-10-17T08:55:44Z</dcterms:modified>
</cp:coreProperties>
</file>